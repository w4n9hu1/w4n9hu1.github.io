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6"/>
  </p:handoutMasterIdLst>
  <p:sldIdLst>
    <p:sldId id="2860" r:id="rId3"/>
    <p:sldId id="3072" r:id="rId5"/>
    <p:sldId id="3184" r:id="rId6"/>
    <p:sldId id="3183" r:id="rId7"/>
    <p:sldId id="3128" r:id="rId8"/>
    <p:sldId id="3127" r:id="rId9"/>
    <p:sldId id="3181" r:id="rId10"/>
    <p:sldId id="3119" r:id="rId11"/>
    <p:sldId id="3126" r:id="rId12"/>
    <p:sldId id="3159" r:id="rId13"/>
    <p:sldId id="3139" r:id="rId14"/>
    <p:sldId id="3161" r:id="rId15"/>
    <p:sldId id="3120" r:id="rId16"/>
    <p:sldId id="3123" r:id="rId17"/>
    <p:sldId id="3140" r:id="rId18"/>
    <p:sldId id="3163" r:id="rId19"/>
    <p:sldId id="3215" r:id="rId20"/>
    <p:sldId id="3216" r:id="rId21"/>
    <p:sldId id="3164" r:id="rId22"/>
    <p:sldId id="3166" r:id="rId23"/>
    <p:sldId id="3165" r:id="rId24"/>
    <p:sldId id="3217" r:id="rId25"/>
    <p:sldId id="3121" r:id="rId26"/>
    <p:sldId id="3154" r:id="rId27"/>
    <p:sldId id="3180" r:id="rId28"/>
    <p:sldId id="3218" r:id="rId29"/>
    <p:sldId id="3147" r:id="rId30"/>
    <p:sldId id="3148" r:id="rId31"/>
    <p:sldId id="3149" r:id="rId32"/>
    <p:sldId id="3153" r:id="rId33"/>
    <p:sldId id="3152" r:id="rId34"/>
    <p:sldId id="3058" r:id="rId35"/>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i Zong" initials="WZ" lastIdx="2" clrIdx="0"/>
  <p:cmAuthor id="2" name="admin"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D4507"/>
    <a:srgbClr val="162E54"/>
    <a:srgbClr val="E8F4EA"/>
    <a:srgbClr val="5B8BF5"/>
    <a:srgbClr val="FFB40F"/>
    <a:srgbClr val="D0CECE"/>
    <a:srgbClr val="FFFFFF"/>
    <a:srgbClr val="0E55F2"/>
    <a:srgbClr val="4F4C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5" autoAdjust="0"/>
    <p:restoredTop sz="92450" autoAdjust="0"/>
  </p:normalViewPr>
  <p:slideViewPr>
    <p:cSldViewPr snapToGrid="0">
      <p:cViewPr varScale="1">
        <p:scale>
          <a:sx n="79" d="100"/>
          <a:sy n="79" d="100"/>
        </p:scale>
        <p:origin x="907" y="82"/>
      </p:cViewPr>
      <p:guideLst>
        <p:guide orient="horz" pos="2035"/>
        <p:guide pos="3840"/>
        <p:guide pos="4823"/>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95" d="100"/>
          <a:sy n="95" d="100"/>
        </p:scale>
        <p:origin x="-1746" y="-102"/>
      </p:cViewPr>
      <p:guideLst>
        <p:guide orient="horz" pos="2908"/>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12.xml"/><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30D4A5-837C-4071-AC3B-B7A5E4E7D115}"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0986D-83E7-456E-A597-2B9B6A03CA3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6D5ABB-1D53-4373-A4D5-BCA09A27C3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E8D34-9805-4FFA-9E31-C206FF4C8B9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4E8D34-9805-4FFA-9E31-C206FF4C8B9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6" name="标题占位符 1"/>
          <p:cNvSpPr>
            <a:spLocks noGrp="1"/>
          </p:cNvSpPr>
          <p:nvPr>
            <p:ph type="title" hasCustomPrompt="1"/>
          </p:nvPr>
        </p:nvSpPr>
        <p:spPr>
          <a:xfrm>
            <a:off x="838200" y="234499"/>
            <a:ext cx="10515600" cy="785943"/>
          </a:xfrm>
          <a:prstGeom prst="rect">
            <a:avLst/>
          </a:prstGeom>
        </p:spPr>
        <p:txBody>
          <a:bodyPr vert="horz" lIns="91440" tIns="45720" rIns="91440" bIns="45720" rtlCol="0" anchor="ctr">
            <a:normAutofit/>
          </a:bodyPr>
          <a:lstStyle/>
          <a:p>
            <a:r>
              <a:rPr lang="zh-CN" altLang="en-US" dirty="0"/>
              <a:t>单击此处添加标题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6622" y="303811"/>
            <a:ext cx="511578" cy="513348"/>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83625" y="500373"/>
            <a:ext cx="1313951" cy="181568"/>
          </a:xfrm>
          <a:prstGeom prst="rect">
            <a:avLst/>
          </a:prstGeom>
        </p:spPr>
      </p:pic>
      <p:sp>
        <p:nvSpPr>
          <p:cNvPr id="5" name="标题占位符 1"/>
          <p:cNvSpPr>
            <a:spLocks noGrp="1"/>
          </p:cNvSpPr>
          <p:nvPr>
            <p:ph type="title" hasCustomPrompt="1"/>
          </p:nvPr>
        </p:nvSpPr>
        <p:spPr>
          <a:xfrm>
            <a:off x="838200" y="234499"/>
            <a:ext cx="10515600" cy="785943"/>
          </a:xfrm>
          <a:prstGeom prst="rect">
            <a:avLst/>
          </a:prstGeom>
        </p:spPr>
        <p:txBody>
          <a:bodyPr vert="horz" lIns="91440" tIns="45720" rIns="91440" bIns="45720" rtlCol="0" anchor="ctr">
            <a:normAutofit/>
          </a:bodyPr>
          <a:lstStyle/>
          <a:p>
            <a:r>
              <a:rPr lang="zh-CN" altLang="en-US" dirty="0"/>
              <a:t>单击此处添加标题</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28" name="图片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0568" y="288758"/>
            <a:ext cx="511578" cy="513348"/>
          </a:xfrm>
          <a:prstGeom prst="rect">
            <a:avLst/>
          </a:pr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83625" y="427803"/>
            <a:ext cx="1313951" cy="181568"/>
          </a:xfrm>
          <a:prstGeom prst="rect">
            <a:avLst/>
          </a:prstGeom>
        </p:spPr>
      </p:pic>
      <p:sp>
        <p:nvSpPr>
          <p:cNvPr id="5" name="标题占位符 1"/>
          <p:cNvSpPr>
            <a:spLocks noGrp="1"/>
          </p:cNvSpPr>
          <p:nvPr>
            <p:ph type="title" hasCustomPrompt="1"/>
          </p:nvPr>
        </p:nvSpPr>
        <p:spPr>
          <a:xfrm>
            <a:off x="838200" y="234499"/>
            <a:ext cx="10515600" cy="785943"/>
          </a:xfrm>
          <a:prstGeom prst="rect">
            <a:avLst/>
          </a:prstGeom>
        </p:spPr>
        <p:txBody>
          <a:bodyPr vert="horz" lIns="91440" tIns="45720" rIns="91440" bIns="45720" rtlCol="0" anchor="ctr">
            <a:normAutofit/>
          </a:bodyPr>
          <a:lstStyle/>
          <a:p>
            <a:r>
              <a:rPr lang="zh-CN" altLang="en-US" dirty="0"/>
              <a:t>单击此处添加标题</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C7E4654-A2AD-41BB-835F-435AFAFB6AF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37F6A21-8ED4-474E-BECC-7E88F0539F3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09172" y="205468"/>
            <a:ext cx="10515600" cy="785943"/>
          </a:xfrm>
          <a:prstGeom prst="rect">
            <a:avLst/>
          </a:prstGeom>
        </p:spPr>
        <p:txBody>
          <a:bodyPr vert="horz" lIns="91440" tIns="45720" rIns="91440" bIns="45720" rtlCol="0" anchor="ctr">
            <a:normAutofit/>
          </a:bodyPr>
          <a:lstStyle/>
          <a:p>
            <a:r>
              <a:rPr lang="zh-CN" altLang="en-US" dirty="0"/>
              <a:t>单击此处添加标题</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7E4654-A2AD-41BB-835F-435AFAFB6AF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F6A21-8ED4-474E-BECC-7E88F0539F3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lang="zh-CN" altLang="en-US" sz="3000" b="1" kern="1200" dirty="0" smtClean="0">
          <a:solidFill>
            <a:schemeClr val="tx1">
              <a:lumMod val="75000"/>
              <a:lumOff val="2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4.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slideLayout" Target="../slideLayouts/slideLayout4.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4.xml"/><Relationship Id="rId3" Type="http://schemas.openxmlformats.org/officeDocument/2006/relationships/hyperlink" Target="https://www.ruanyifeng.com/blog/2013/06/rsa_algorithm_part_one.html" TargetMode="External"/><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4.xml"/><Relationship Id="rId3" Type="http://schemas.openxmlformats.org/officeDocument/2006/relationships/hyperlink" Target="https://jwt.io/" TargetMode="External"/><Relationship Id="rId2" Type="http://schemas.openxmlformats.org/officeDocument/2006/relationships/image" Target="../media/image26.png"/><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4.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cstate="print">
            <a:extLst>
              <a:ext uri="{28A0092B-C50C-407E-A947-70E740481C1C}">
                <a14:useLocalDpi xmlns:a14="http://schemas.microsoft.com/office/drawing/2010/main" val="0"/>
              </a:ext>
            </a:extLst>
          </a:blip>
          <a:srcRect t="10062" r="26443" b="33166"/>
          <a:stretch>
            <a:fillRect/>
          </a:stretch>
        </p:blipFill>
        <p:spPr>
          <a:xfrm>
            <a:off x="5658896" y="3496441"/>
            <a:ext cx="6533104" cy="3361559"/>
          </a:xfrm>
          <a:prstGeom prst="rect">
            <a:avLst/>
          </a:prstGeom>
        </p:spPr>
      </p:pic>
      <p:grpSp>
        <p:nvGrpSpPr>
          <p:cNvPr id="2" name="组合 1"/>
          <p:cNvGrpSpPr/>
          <p:nvPr/>
        </p:nvGrpSpPr>
        <p:grpSpPr>
          <a:xfrm>
            <a:off x="-22317" y="0"/>
            <a:ext cx="12214316" cy="6858000"/>
            <a:chOff x="-22317" y="0"/>
            <a:chExt cx="12214316" cy="6858000"/>
          </a:xfrm>
        </p:grpSpPr>
        <p:pic>
          <p:nvPicPr>
            <p:cNvPr id="11" name="图片 10"/>
            <p:cNvPicPr>
              <a:picLocks noChangeAspect="1"/>
            </p:cNvPicPr>
            <p:nvPr/>
          </p:nvPicPr>
          <p:blipFill>
            <a:blip r:embed="rId2"/>
            <a:stretch>
              <a:fillRect/>
            </a:stretch>
          </p:blipFill>
          <p:spPr>
            <a:xfrm>
              <a:off x="-22317" y="0"/>
              <a:ext cx="8060842" cy="6858000"/>
            </a:xfrm>
            <a:prstGeom prst="rect">
              <a:avLst/>
            </a:prstGeom>
            <a:solidFill>
              <a:srgbClr val="FF4506"/>
            </a:solidFill>
          </p:spPr>
        </p:pic>
        <p:grpSp>
          <p:nvGrpSpPr>
            <p:cNvPr id="23" name="组合 22"/>
            <p:cNvGrpSpPr/>
            <p:nvPr/>
          </p:nvGrpSpPr>
          <p:grpSpPr>
            <a:xfrm>
              <a:off x="7661730" y="0"/>
              <a:ext cx="4530269" cy="6858000"/>
              <a:chOff x="7671619" y="0"/>
              <a:chExt cx="4509090" cy="6858000"/>
            </a:xfrm>
            <a:solidFill>
              <a:srgbClr val="FFFFFF">
                <a:alpha val="69804"/>
              </a:srgbClr>
            </a:solidFill>
          </p:grpSpPr>
          <p:sp>
            <p:nvSpPr>
              <p:cNvPr id="20" name="三角形 19"/>
              <p:cNvSpPr/>
              <p:nvPr/>
            </p:nvSpPr>
            <p:spPr>
              <a:xfrm rot="16200000">
                <a:off x="7463912" y="2483547"/>
                <a:ext cx="782320" cy="36690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p:nvSpPr>
            <p:spPr>
              <a:xfrm>
                <a:off x="8038524" y="0"/>
                <a:ext cx="4142185"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879" y="0"/>
            <a:ext cx="12190815" cy="6858000"/>
          </a:xfrm>
          <a:prstGeom prst="rect">
            <a:avLst/>
          </a:prstGeom>
        </p:spPr>
      </p:pic>
      <p:sp>
        <p:nvSpPr>
          <p:cNvPr id="4" name="文本框 3"/>
          <p:cNvSpPr txBox="1"/>
          <p:nvPr/>
        </p:nvSpPr>
        <p:spPr>
          <a:xfrm>
            <a:off x="624010" y="2159383"/>
            <a:ext cx="7295568" cy="1014730"/>
          </a:xfrm>
          <a:prstGeom prst="rect">
            <a:avLst/>
          </a:prstGeom>
          <a:noFill/>
          <a:ln>
            <a:noFill/>
          </a:ln>
        </p:spPr>
        <p:txBody>
          <a:bodyPr wrap="square" rtlCol="0">
            <a:spAutoFit/>
          </a:bodyPr>
          <a:lstStyle/>
          <a:p>
            <a:r>
              <a:rPr lang="zh-CN" altLang="en-US" sz="6000" b="1" spc="600" dirty="0">
                <a:solidFill>
                  <a:schemeClr val="bg1"/>
                </a:solidFill>
                <a:latin typeface="微软雅黑" panose="020B0503020204020204" pitchFamily="34" charset="-122"/>
                <a:ea typeface="微软雅黑" panose="020B0503020204020204" pitchFamily="34" charset="-122"/>
              </a:rPr>
              <a:t>现代密码</a:t>
            </a:r>
            <a:r>
              <a:rPr lang="zh-CN" altLang="en-US" sz="6000" b="1" spc="600" dirty="0">
                <a:solidFill>
                  <a:schemeClr val="bg1"/>
                </a:solidFill>
                <a:latin typeface="微软雅黑" panose="020B0503020204020204" pitchFamily="34" charset="-122"/>
                <a:ea typeface="微软雅黑" panose="020B0503020204020204" pitchFamily="34" charset="-122"/>
              </a:rPr>
              <a:t>学</a:t>
            </a:r>
            <a:endParaRPr lang="zh-CN" altLang="en-US" sz="6000" b="1" spc="600" dirty="0">
              <a:solidFill>
                <a:schemeClr val="bg1"/>
              </a:solidFill>
              <a:latin typeface="微软雅黑" panose="020B0503020204020204" pitchFamily="34" charset="-122"/>
              <a:ea typeface="微软雅黑" panose="020B0503020204020204" pitchFamily="34" charset="-122"/>
            </a:endParaRPr>
          </a:p>
        </p:txBody>
      </p:sp>
      <p:cxnSp>
        <p:nvCxnSpPr>
          <p:cNvPr id="10" name="直线连接符 9"/>
          <p:cNvCxnSpPr/>
          <p:nvPr/>
        </p:nvCxnSpPr>
        <p:spPr>
          <a:xfrm>
            <a:off x="732955" y="3248406"/>
            <a:ext cx="160993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txBox="1"/>
          <p:nvPr/>
        </p:nvSpPr>
        <p:spPr>
          <a:xfrm>
            <a:off x="623888" y="5177220"/>
            <a:ext cx="3950592" cy="266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spc="300" dirty="0">
                <a:solidFill>
                  <a:schemeClr val="bg1"/>
                </a:solidFill>
                <a:latin typeface="微软雅黑" panose="020B0503020204020204" pitchFamily="34" charset="-122"/>
                <a:ea typeface="微软雅黑" panose="020B0503020204020204" pitchFamily="34" charset="-122"/>
              </a:rPr>
              <a:t>上海发网供应链管理有限公司</a:t>
            </a:r>
            <a:endParaRPr lang="zh-CN" altLang="en-US" sz="1200" spc="300"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462128" y="789208"/>
            <a:ext cx="7295568" cy="460375"/>
          </a:xfrm>
          <a:prstGeom prst="rect">
            <a:avLst/>
          </a:prstGeom>
          <a:noFill/>
          <a:ln>
            <a:noFill/>
          </a:ln>
        </p:spPr>
        <p:txBody>
          <a:bodyPr wrap="square" rtlCol="0">
            <a:spAutoFit/>
          </a:bodyPr>
          <a:lstStyle/>
          <a:p>
            <a:r>
              <a:rPr lang="zh-CN" altLang="en-US" sz="2400" b="1" spc="600" dirty="0">
                <a:solidFill>
                  <a:schemeClr val="bg1"/>
                </a:solidFill>
                <a:latin typeface="微软雅黑" panose="020B0503020204020204" pitchFamily="34" charset="-122"/>
                <a:ea typeface="微软雅黑" panose="020B0503020204020204" pitchFamily="34" charset="-122"/>
              </a:rPr>
              <a:t>目录</a:t>
            </a:r>
            <a:endParaRPr lang="zh-CN" altLang="en-US" sz="2400" b="1" spc="600" dirty="0">
              <a:solidFill>
                <a:schemeClr val="bg1"/>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 y="0"/>
            <a:ext cx="12190815" cy="6858000"/>
          </a:xfrm>
          <a:prstGeom prst="rect">
            <a:avLst/>
          </a:prstGeom>
        </p:spPr>
      </p:pic>
      <p:sp>
        <p:nvSpPr>
          <p:cNvPr id="17" name="文本框 10"/>
          <p:cNvSpPr txBox="1"/>
          <p:nvPr/>
        </p:nvSpPr>
        <p:spPr>
          <a:xfrm>
            <a:off x="1583055" y="609600"/>
            <a:ext cx="5266690" cy="645160"/>
          </a:xfrm>
          <a:prstGeom prst="rect">
            <a:avLst/>
          </a:prstGeom>
          <a:noFill/>
        </p:spPr>
        <p:txBody>
          <a:bodyPr wrap="square" rtlCol="0">
            <a:spAutoFit/>
            <a:scene3d>
              <a:camera prst="orthographicFront"/>
              <a:lightRig rig="threePt" dir="t"/>
            </a:scene3d>
            <a:sp3d contourW="12700"/>
          </a:bodyPr>
          <a:lstStyle/>
          <a:p>
            <a:r>
              <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rPr>
              <a:t>目录</a:t>
            </a:r>
            <a:endPar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10"/>
          <p:cNvSpPr txBox="1"/>
          <p:nvPr/>
        </p:nvSpPr>
        <p:spPr>
          <a:xfrm>
            <a:off x="1826895" y="1311275"/>
            <a:ext cx="5740400" cy="4707890"/>
          </a:xfrm>
          <a:prstGeom prst="rect">
            <a:avLst/>
          </a:prstGeom>
          <a:noFill/>
        </p:spPr>
        <p:txBody>
          <a:bodyPr wrap="square" rtlCol="0">
            <a:spAutoFit/>
            <a:scene3d>
              <a:camera prst="orthographicFront"/>
              <a:lightRig rig="threePt" dir="t"/>
            </a:scene3d>
            <a:sp3d contourW="12700"/>
          </a:bodyPr>
          <a:lstStyle/>
          <a:p>
            <a:pPr marL="514350" indent="-514350">
              <a:lnSpc>
                <a:spcPct val="150000"/>
              </a:lnSpc>
              <a:buFont typeface="+mj-ea"/>
              <a:buAutoNum type="ea1JpnChsDbPeriod"/>
            </a:pP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信息安全所面临的威胁</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514350" indent="-514350">
              <a:lnSpc>
                <a:spcPct val="150000"/>
              </a:lnSpc>
              <a:buFont typeface="+mj-ea"/>
              <a:buAutoNum type="ea1JpnChsDbPeriod"/>
            </a:pP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rPr>
              <a:t>对称</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rPr>
              <a:t>密码</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514350" indent="-514350">
              <a:lnSpc>
                <a:spcPct val="150000"/>
              </a:lnSpc>
              <a:buFont typeface="+mj-ea"/>
              <a:buAutoNum type="ea1JpnChsDbPeriod"/>
            </a:pP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rPr>
              <a:t>非对称</a:t>
            </a: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rPr>
              <a:t>密码</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514350" indent="-514350">
              <a:lnSpc>
                <a:spcPct val="150000"/>
              </a:lnSpc>
              <a:buFont typeface="+mj-ea"/>
              <a:buAutoNum type="ea1JpnChsDbPeriod"/>
            </a:pP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rPr>
              <a:t>单向散列函数</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514350" indent="-514350">
              <a:lnSpc>
                <a:spcPct val="150000"/>
              </a:lnSpc>
              <a:buFont typeface="+mj-ea"/>
              <a:buAutoNum type="ea1JpnChsDbPeriod"/>
            </a:pPr>
            <a:r>
              <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实际应用</a:t>
            </a:r>
            <a:endParaRPr lang="zh-CN" altLang="en-US" sz="2400" spc="3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971550" lvl="1" indent="-514350">
              <a:lnSpc>
                <a:spcPct val="150000"/>
              </a:lnSpc>
              <a:buFont typeface="+mj-ea"/>
              <a:buAutoNum type="ea1JpnChsDbPeriod"/>
            </a:pPr>
            <a:r>
              <a:rPr lang="en-US" altLang="zh-CN" sz="2000" spc="300" dirty="0">
                <a:solidFill>
                  <a:schemeClr val="tx1">
                    <a:lumMod val="75000"/>
                    <a:lumOff val="25000"/>
                  </a:schemeClr>
                </a:solidFill>
                <a:latin typeface="微软雅黑" panose="020B0503020204020204" pitchFamily="34" charset="-122"/>
                <a:ea typeface="微软雅黑" panose="020B0503020204020204" pitchFamily="34" charset="-122"/>
              </a:rPr>
              <a:t>JWT</a:t>
            </a:r>
            <a:endParaRPr lang="en-US" altLang="zh-CN" sz="20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971550" lvl="1" indent="-514350">
              <a:lnSpc>
                <a:spcPct val="150000"/>
              </a:lnSpc>
              <a:buFont typeface="+mj-ea"/>
              <a:buAutoNum type="ea1JpnChsDbPeriod"/>
            </a:pPr>
            <a:r>
              <a:rPr lang="zh-CN" altLang="en-US" sz="2000" spc="300" dirty="0">
                <a:solidFill>
                  <a:schemeClr val="tx1">
                    <a:lumMod val="75000"/>
                    <a:lumOff val="25000"/>
                  </a:schemeClr>
                </a:solidFill>
                <a:latin typeface="微软雅黑" panose="020B0503020204020204" pitchFamily="34" charset="-122"/>
                <a:ea typeface="微软雅黑" panose="020B0503020204020204" pitchFamily="34" charset="-122"/>
              </a:rPr>
              <a:t>接口通信</a:t>
            </a:r>
            <a:endParaRPr lang="zh-CN" altLang="en-US" sz="20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971550" lvl="1" indent="-514350">
              <a:lnSpc>
                <a:spcPct val="150000"/>
              </a:lnSpc>
              <a:buFont typeface="+mj-ea"/>
              <a:buAutoNum type="ea1JpnChsDbPeriod"/>
            </a:pPr>
            <a:r>
              <a:rPr lang="en-US" altLang="zh-CN" sz="2000" spc="300" dirty="0">
                <a:solidFill>
                  <a:schemeClr val="tx1">
                    <a:lumMod val="75000"/>
                    <a:lumOff val="25000"/>
                  </a:schemeClr>
                </a:solidFill>
                <a:latin typeface="微软雅黑" panose="020B0503020204020204" pitchFamily="34" charset="-122"/>
                <a:ea typeface="微软雅黑" panose="020B0503020204020204" pitchFamily="34" charset="-122"/>
              </a:rPr>
              <a:t>HTTPS</a:t>
            </a:r>
            <a:endParaRPr lang="en-US" altLang="zh-CN" sz="2000" spc="300" dirty="0">
              <a:solidFill>
                <a:schemeClr val="tx1">
                  <a:lumMod val="75000"/>
                  <a:lumOff val="25000"/>
                </a:schemeClr>
              </a:solidFill>
              <a:latin typeface="微软雅黑" panose="020B0503020204020204" pitchFamily="34" charset="-122"/>
              <a:ea typeface="微软雅黑" panose="020B0503020204020204" pitchFamily="34" charset="-122"/>
            </a:endParaRPr>
          </a:p>
          <a:p>
            <a:pPr marL="971550" lvl="1" indent="-514350">
              <a:lnSpc>
                <a:spcPct val="150000"/>
              </a:lnSpc>
              <a:buFont typeface="+mj-ea"/>
              <a:buAutoNum type="ea1JpnChsDbPeriod"/>
            </a:pPr>
            <a:r>
              <a:rPr lang="zh-CN" altLang="en-US" sz="2000" spc="300" dirty="0">
                <a:solidFill>
                  <a:schemeClr val="tx1">
                    <a:lumMod val="75000"/>
                    <a:lumOff val="25000"/>
                  </a:schemeClr>
                </a:solidFill>
                <a:latin typeface="微软雅黑" panose="020B0503020204020204" pitchFamily="34" charset="-122"/>
                <a:ea typeface="微软雅黑" panose="020B0503020204020204" pitchFamily="34" charset="-122"/>
              </a:rPr>
              <a:t>比特币</a:t>
            </a:r>
            <a:endParaRPr lang="zh-CN" altLang="en-US" sz="2000" spc="3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222" y="-20958"/>
            <a:ext cx="12192000" cy="68789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nvGrpSpPr>
          <p:cNvPr id="8" name="Group 7"/>
          <p:cNvGrpSpPr/>
          <p:nvPr/>
        </p:nvGrpSpPr>
        <p:grpSpPr>
          <a:xfrm>
            <a:off x="6561054" y="3212533"/>
            <a:ext cx="5630946" cy="1066410"/>
            <a:chOff x="6561054" y="3212533"/>
            <a:chExt cx="5630946" cy="1066410"/>
          </a:xfrm>
        </p:grpSpPr>
        <p:sp>
          <p:nvSpPr>
            <p:cNvPr id="25" name="文本框 10"/>
            <p:cNvSpPr txBox="1"/>
            <p:nvPr/>
          </p:nvSpPr>
          <p:spPr>
            <a:xfrm>
              <a:off x="6692928" y="3212533"/>
              <a:ext cx="5367198" cy="645160"/>
            </a:xfrm>
            <a:prstGeom prst="rect">
              <a:avLst/>
            </a:prstGeom>
            <a:noFill/>
          </p:spPr>
          <p:txBody>
            <a:bodyPr wrap="square" rtlCol="0">
              <a:spAutoFit/>
              <a:scene3d>
                <a:camera prst="orthographicFront"/>
                <a:lightRig rig="threePt" dir="t"/>
              </a:scene3d>
              <a:sp3d contourW="12700"/>
            </a:bodyPr>
            <a:lstStyle/>
            <a:p>
              <a:r>
                <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信息安全所面临的威胁</a:t>
              </a:r>
              <a:endPar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6561054" y="4278943"/>
              <a:ext cx="5630946" cy="0"/>
            </a:xfrm>
            <a:prstGeom prst="line">
              <a:avLst/>
            </a:prstGeom>
            <a:ln w="28575">
              <a:solidFill>
                <a:srgbClr val="FF4506"/>
              </a:solidFill>
            </a:ln>
          </p:spPr>
          <p:style>
            <a:lnRef idx="1">
              <a:schemeClr val="accent2"/>
            </a:lnRef>
            <a:fillRef idx="0">
              <a:schemeClr val="accent2"/>
            </a:fillRef>
            <a:effectRef idx="0">
              <a:schemeClr val="accent2"/>
            </a:effectRef>
            <a:fontRef idx="minor">
              <a:schemeClr val="tx1"/>
            </a:fontRef>
          </p:style>
        </p:cxnSp>
      </p:grpSp>
      <p:grpSp>
        <p:nvGrpSpPr>
          <p:cNvPr id="7" name="Group 6"/>
          <p:cNvGrpSpPr/>
          <p:nvPr/>
        </p:nvGrpSpPr>
        <p:grpSpPr>
          <a:xfrm>
            <a:off x="0" y="1848067"/>
            <a:ext cx="6479357" cy="3301450"/>
            <a:chOff x="0" y="1848066"/>
            <a:chExt cx="6980338" cy="3556905"/>
          </a:xfrm>
        </p:grpSpPr>
        <p:sp>
          <p:nvSpPr>
            <p:cNvPr id="14" name="矩形 13"/>
            <p:cNvSpPr/>
            <p:nvPr/>
          </p:nvSpPr>
          <p:spPr>
            <a:xfrm>
              <a:off x="0" y="2498170"/>
              <a:ext cx="5055800" cy="216262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pic>
          <p:nvPicPr>
            <p:cNvPr id="3075" name="Picture 3" descr="C:\Users\laitianyue\Desktop\封面 [已恢复]-14.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51063" y="1848066"/>
              <a:ext cx="3663778" cy="3556905"/>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组合 16"/>
            <p:cNvGrpSpPr/>
            <p:nvPr/>
          </p:nvGrpSpPr>
          <p:grpSpPr>
            <a:xfrm>
              <a:off x="3802453" y="2246862"/>
              <a:ext cx="2919338" cy="3115390"/>
              <a:chOff x="4462366" y="690753"/>
              <a:chExt cx="3701356" cy="3949926"/>
            </a:xfrm>
          </p:grpSpPr>
          <p:pic>
            <p:nvPicPr>
              <p:cNvPr id="18" name="图片 17"/>
              <p:cNvPicPr>
                <a:picLocks noChangeAspect="1"/>
              </p:cNvPicPr>
              <p:nvPr/>
            </p:nvPicPr>
            <p:blipFill>
              <a:blip r:embed="rId2"/>
              <a:stretch>
                <a:fillRect/>
              </a:stretch>
            </p:blipFill>
            <p:spPr>
              <a:xfrm>
                <a:off x="4537316" y="690753"/>
                <a:ext cx="3028276" cy="3949926"/>
              </a:xfrm>
              <a:prstGeom prst="rect">
                <a:avLst/>
              </a:prstGeom>
            </p:spPr>
          </p:pic>
          <p:sp>
            <p:nvSpPr>
              <p:cNvPr id="19" name="文本框 18"/>
              <p:cNvSpPr txBox="1"/>
              <p:nvPr/>
            </p:nvSpPr>
            <p:spPr>
              <a:xfrm>
                <a:off x="4462366" y="2611554"/>
                <a:ext cx="1975700" cy="753269"/>
              </a:xfrm>
              <a:prstGeom prst="rect">
                <a:avLst/>
              </a:prstGeom>
              <a:noFill/>
              <a:scene3d>
                <a:camera prst="perspectiveHeroicExtremeLeftFacing" fov="2700000">
                  <a:rot lat="2400000" lon="2400000" rev="21594000"/>
                </a:camera>
                <a:lightRig rig="threePt" dir="t"/>
              </a:scene3d>
            </p:spPr>
            <p:txBody>
              <a:bodyPr wrap="square" rtlCol="0">
                <a:spAutoFit/>
              </a:bodyPr>
              <a:lstStyle/>
              <a:p>
                <a:r>
                  <a:rPr kumimoji="1" lang="en-US" altLang="zh-CN" sz="3200" b="1" dirty="0">
                    <a:solidFill>
                      <a:schemeClr val="bg1"/>
                    </a:solidFill>
                    <a:latin typeface="微软雅黑" panose="020B0503020204020204" pitchFamily="34" charset="-122"/>
                    <a:ea typeface="微软雅黑" panose="020B0503020204020204" pitchFamily="34" charset="-122"/>
                  </a:rPr>
                  <a:t>PART</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904339" y="2189557"/>
                <a:ext cx="2259383" cy="1133688"/>
              </a:xfrm>
              <a:prstGeom prst="rect">
                <a:avLst/>
              </a:prstGeom>
              <a:noFill/>
              <a:scene3d>
                <a:camera prst="isometricOffAxis1Right">
                  <a:rot lat="1800000" lon="18600000" rev="0"/>
                </a:camera>
                <a:lightRig rig="threePt" dir="t"/>
              </a:scene3d>
            </p:spPr>
            <p:txBody>
              <a:bodyPr wrap="square" rtlCol="0">
                <a:spAutoFit/>
              </a:bodyPr>
              <a:lstStyle/>
              <a:p>
                <a:pPr algn="ctr"/>
                <a:r>
                  <a:rPr kumimoji="1" lang="zh-CN" altLang="en-US" sz="4800" b="1" dirty="0">
                    <a:solidFill>
                      <a:schemeClr val="bg1"/>
                    </a:solidFill>
                    <a:latin typeface="微软雅黑" panose="020B0503020204020204" pitchFamily="34" charset="-122"/>
                    <a:ea typeface="微软雅黑" panose="020B0503020204020204" pitchFamily="34" charset="-122"/>
                  </a:rPr>
                  <a:t>一</a:t>
                </a:r>
                <a:endParaRPr kumimoji="1"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3" name="等腰三角形 2"/>
            <p:cNvSpPr/>
            <p:nvPr/>
          </p:nvSpPr>
          <p:spPr>
            <a:xfrm rot="5400000">
              <a:off x="6538505" y="3461729"/>
              <a:ext cx="474562" cy="409105"/>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500" fill="hold"/>
                                        <p:tgtEl>
                                          <p:spTgt spid="8"/>
                                        </p:tgtEl>
                                        <p:attrNameLst>
                                          <p:attrName>ppt_x</p:attrName>
                                        </p:attrNameLst>
                                      </p:cBhvr>
                                      <p:tavLst>
                                        <p:tav tm="0">
                                          <p:val>
                                            <p:strVal val="#ppt_x"/>
                                          </p:val>
                                        </p:tav>
                                        <p:tav tm="100000">
                                          <p:val>
                                            <p:strVal val="#ppt_x"/>
                                          </p:val>
                                        </p:tav>
                                      </p:tavLst>
                                    </p:anim>
                                    <p:anim calcmode="lin" valueType="num">
                                      <p:cBhvr additive="base">
                                        <p:cTn id="12" dur="1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tretch>
            <a:fillRect/>
          </a:stretch>
        </p:blipFill>
        <p:spPr>
          <a:xfrm>
            <a:off x="1124903" y="1837690"/>
            <a:ext cx="4676775" cy="3063875"/>
          </a:xfrm>
          <a:prstGeom prst="rect">
            <a:avLst/>
          </a:prstGeom>
        </p:spPr>
      </p:pic>
      <p:sp>
        <p:nvSpPr>
          <p:cNvPr id="9" name="文本框 8"/>
          <p:cNvSpPr txBox="1"/>
          <p:nvPr/>
        </p:nvSpPr>
        <p:spPr>
          <a:xfrm>
            <a:off x="807720" y="5434965"/>
            <a:ext cx="5048885" cy="460375"/>
          </a:xfrm>
          <a:prstGeom prst="rect">
            <a:avLst/>
          </a:prstGeom>
          <a:noFill/>
        </p:spPr>
        <p:txBody>
          <a:bodyPr wrap="square" rtlCol="0">
            <a:spAutoFit/>
          </a:bodyPr>
          <a:p>
            <a:pPr algn="ctr"/>
            <a:r>
              <a:rPr lang="zh-CN" altLang="en-US" sz="2400"/>
              <a:t>一</a:t>
            </a:r>
            <a:r>
              <a:rPr lang="zh-CN" altLang="en-US" sz="2400"/>
              <a:t>、现代密码在</a:t>
            </a:r>
            <a:r>
              <a:rPr lang="zh-CN" altLang="en-US" sz="2400"/>
              <a:t>社会中的广泛应用</a:t>
            </a:r>
            <a:endParaRPr lang="zh-CN" altLang="en-US" sz="2400"/>
          </a:p>
        </p:txBody>
      </p:sp>
      <p:grpSp>
        <p:nvGrpSpPr>
          <p:cNvPr id="3" name="组合 2"/>
          <p:cNvGrpSpPr/>
          <p:nvPr/>
        </p:nvGrpSpPr>
        <p:grpSpPr>
          <a:xfrm>
            <a:off x="6917055" y="2069465"/>
            <a:ext cx="4493158" cy="2844800"/>
            <a:chOff x="11142" y="3798"/>
            <a:chExt cx="5894" cy="4231"/>
          </a:xfrm>
        </p:grpSpPr>
        <p:sp>
          <p:nvSpPr>
            <p:cNvPr id="16" name="任意多边形: 形状 53"/>
            <p:cNvSpPr/>
            <p:nvPr>
              <p:custDataLst>
                <p:tags r:id="rId2"/>
              </p:custDataLst>
            </p:nvPr>
          </p:nvSpPr>
          <p:spPr>
            <a:xfrm>
              <a:off x="13114" y="3798"/>
              <a:ext cx="1952" cy="833"/>
            </a:xfrm>
            <a:custGeom>
              <a:avLst/>
              <a:gdLst>
                <a:gd name="connsiteX0" fmla="*/ 467303 w 1887904"/>
                <a:gd name="connsiteY0" fmla="*/ 0 h 805695"/>
                <a:gd name="connsiteX1" fmla="*/ 1420601 w 1887904"/>
                <a:gd name="connsiteY1" fmla="*/ 0 h 805695"/>
                <a:gd name="connsiteX2" fmla="*/ 1887904 w 1887904"/>
                <a:gd name="connsiteY2" fmla="*/ 805695 h 805695"/>
                <a:gd name="connsiteX3" fmla="*/ 0 w 1887904"/>
                <a:gd name="connsiteY3" fmla="*/ 805695 h 805695"/>
              </a:gdLst>
              <a:ahLst/>
              <a:cxnLst>
                <a:cxn ang="0">
                  <a:pos x="connsiteX0" y="connsiteY0"/>
                </a:cxn>
                <a:cxn ang="0">
                  <a:pos x="connsiteX1" y="connsiteY1"/>
                </a:cxn>
                <a:cxn ang="0">
                  <a:pos x="connsiteX2" y="connsiteY2"/>
                </a:cxn>
                <a:cxn ang="0">
                  <a:pos x="connsiteX3" y="connsiteY3"/>
                </a:cxn>
              </a:cxnLst>
              <a:rect l="l" t="t" r="r" b="b"/>
              <a:pathLst>
                <a:path w="1887904" h="805695">
                  <a:moveTo>
                    <a:pt x="467303" y="0"/>
                  </a:moveTo>
                  <a:lnTo>
                    <a:pt x="1420601" y="0"/>
                  </a:lnTo>
                  <a:lnTo>
                    <a:pt x="1887904" y="805695"/>
                  </a:lnTo>
                  <a:lnTo>
                    <a:pt x="0" y="805695"/>
                  </a:lnTo>
                  <a:close/>
                </a:path>
              </a:pathLst>
            </a:cu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a:p>
          </p:txBody>
        </p:sp>
        <p:sp>
          <p:nvSpPr>
            <p:cNvPr id="56" name="任意多边形: 形状 55"/>
            <p:cNvSpPr/>
            <p:nvPr>
              <p:custDataLst>
                <p:tags r:id="rId3"/>
              </p:custDataLst>
            </p:nvPr>
          </p:nvSpPr>
          <p:spPr>
            <a:xfrm>
              <a:off x="12621" y="4648"/>
              <a:ext cx="2938" cy="833"/>
            </a:xfrm>
            <a:custGeom>
              <a:avLst/>
              <a:gdLst>
                <a:gd name="connsiteX0" fmla="*/ 467302 w 2841200"/>
                <a:gd name="connsiteY0" fmla="*/ 0 h 805694"/>
                <a:gd name="connsiteX1" fmla="*/ 2373898 w 2841200"/>
                <a:gd name="connsiteY1" fmla="*/ 0 h 805694"/>
                <a:gd name="connsiteX2" fmla="*/ 2841200 w 2841200"/>
                <a:gd name="connsiteY2" fmla="*/ 805694 h 805694"/>
                <a:gd name="connsiteX3" fmla="*/ 0 w 2841200"/>
                <a:gd name="connsiteY3" fmla="*/ 805694 h 805694"/>
              </a:gdLst>
              <a:ahLst/>
              <a:cxnLst>
                <a:cxn ang="0">
                  <a:pos x="connsiteX0" y="connsiteY0"/>
                </a:cxn>
                <a:cxn ang="0">
                  <a:pos x="connsiteX1" y="connsiteY1"/>
                </a:cxn>
                <a:cxn ang="0">
                  <a:pos x="connsiteX2" y="connsiteY2"/>
                </a:cxn>
                <a:cxn ang="0">
                  <a:pos x="connsiteX3" y="connsiteY3"/>
                </a:cxn>
              </a:cxnLst>
              <a:rect l="l" t="t" r="r" b="b"/>
              <a:pathLst>
                <a:path w="2841200" h="805694">
                  <a:moveTo>
                    <a:pt x="467302" y="0"/>
                  </a:moveTo>
                  <a:lnTo>
                    <a:pt x="2373898" y="0"/>
                  </a:lnTo>
                  <a:lnTo>
                    <a:pt x="2841200" y="805694"/>
                  </a:lnTo>
                  <a:lnTo>
                    <a:pt x="0" y="805694"/>
                  </a:lnTo>
                  <a:close/>
                </a:path>
              </a:pathLst>
            </a:cu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a:p>
          </p:txBody>
        </p:sp>
        <p:sp>
          <p:nvSpPr>
            <p:cNvPr id="22" name="任意多边形: 形状 57"/>
            <p:cNvSpPr/>
            <p:nvPr>
              <p:custDataLst>
                <p:tags r:id="rId4"/>
              </p:custDataLst>
            </p:nvPr>
          </p:nvSpPr>
          <p:spPr>
            <a:xfrm>
              <a:off x="12128" y="5497"/>
              <a:ext cx="3924" cy="833"/>
            </a:xfrm>
            <a:custGeom>
              <a:avLst/>
              <a:gdLst>
                <a:gd name="connsiteX0" fmla="*/ 467303 w 3794498"/>
                <a:gd name="connsiteY0" fmla="*/ 0 h 805694"/>
                <a:gd name="connsiteX1" fmla="*/ 3327195 w 3794498"/>
                <a:gd name="connsiteY1" fmla="*/ 0 h 805694"/>
                <a:gd name="connsiteX2" fmla="*/ 3794498 w 3794498"/>
                <a:gd name="connsiteY2" fmla="*/ 805694 h 805694"/>
                <a:gd name="connsiteX3" fmla="*/ 0 w 3794498"/>
                <a:gd name="connsiteY3" fmla="*/ 805694 h 805694"/>
              </a:gdLst>
              <a:ahLst/>
              <a:cxnLst>
                <a:cxn ang="0">
                  <a:pos x="connsiteX0" y="connsiteY0"/>
                </a:cxn>
                <a:cxn ang="0">
                  <a:pos x="connsiteX1" y="connsiteY1"/>
                </a:cxn>
                <a:cxn ang="0">
                  <a:pos x="connsiteX2" y="connsiteY2"/>
                </a:cxn>
                <a:cxn ang="0">
                  <a:pos x="connsiteX3" y="connsiteY3"/>
                </a:cxn>
              </a:cxnLst>
              <a:rect l="l" t="t" r="r" b="b"/>
              <a:pathLst>
                <a:path w="3794498" h="805694">
                  <a:moveTo>
                    <a:pt x="467303" y="0"/>
                  </a:moveTo>
                  <a:lnTo>
                    <a:pt x="3327195" y="0"/>
                  </a:lnTo>
                  <a:lnTo>
                    <a:pt x="3794498" y="805694"/>
                  </a:lnTo>
                  <a:lnTo>
                    <a:pt x="0" y="805694"/>
                  </a:lnTo>
                  <a:close/>
                </a:path>
              </a:pathLst>
            </a:cu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a:p>
          </p:txBody>
        </p:sp>
        <p:sp>
          <p:nvSpPr>
            <p:cNvPr id="60" name="任意多边形: 形状 59"/>
            <p:cNvSpPr/>
            <p:nvPr>
              <p:custDataLst>
                <p:tags r:id="rId5"/>
              </p:custDataLst>
            </p:nvPr>
          </p:nvSpPr>
          <p:spPr>
            <a:xfrm>
              <a:off x="11635" y="6347"/>
              <a:ext cx="4909" cy="833"/>
            </a:xfrm>
            <a:custGeom>
              <a:avLst/>
              <a:gdLst>
                <a:gd name="connsiteX0" fmla="*/ 467303 w 4747796"/>
                <a:gd name="connsiteY0" fmla="*/ 0 h 805695"/>
                <a:gd name="connsiteX1" fmla="*/ 4280493 w 4747796"/>
                <a:gd name="connsiteY1" fmla="*/ 0 h 805695"/>
                <a:gd name="connsiteX2" fmla="*/ 4747796 w 4747796"/>
                <a:gd name="connsiteY2" fmla="*/ 805695 h 805695"/>
                <a:gd name="connsiteX3" fmla="*/ 0 w 4747796"/>
                <a:gd name="connsiteY3" fmla="*/ 805695 h 805695"/>
              </a:gdLst>
              <a:ahLst/>
              <a:cxnLst>
                <a:cxn ang="0">
                  <a:pos x="connsiteX0" y="connsiteY0"/>
                </a:cxn>
                <a:cxn ang="0">
                  <a:pos x="connsiteX1" y="connsiteY1"/>
                </a:cxn>
                <a:cxn ang="0">
                  <a:pos x="connsiteX2" y="connsiteY2"/>
                </a:cxn>
                <a:cxn ang="0">
                  <a:pos x="connsiteX3" y="connsiteY3"/>
                </a:cxn>
              </a:cxnLst>
              <a:rect l="l" t="t" r="r" b="b"/>
              <a:pathLst>
                <a:path w="4747796" h="805695">
                  <a:moveTo>
                    <a:pt x="467303" y="0"/>
                  </a:moveTo>
                  <a:lnTo>
                    <a:pt x="4280493" y="0"/>
                  </a:lnTo>
                  <a:lnTo>
                    <a:pt x="4747796" y="805695"/>
                  </a:lnTo>
                  <a:lnTo>
                    <a:pt x="0" y="805695"/>
                  </a:lnTo>
                  <a:close/>
                </a:path>
              </a:pathLst>
            </a:cu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a:p>
          </p:txBody>
        </p:sp>
        <p:sp>
          <p:nvSpPr>
            <p:cNvPr id="63" name="任意多边形: 形状 62"/>
            <p:cNvSpPr/>
            <p:nvPr>
              <p:custDataLst>
                <p:tags r:id="rId6"/>
              </p:custDataLst>
            </p:nvPr>
          </p:nvSpPr>
          <p:spPr>
            <a:xfrm>
              <a:off x="11142" y="7197"/>
              <a:ext cx="5895" cy="833"/>
            </a:xfrm>
            <a:custGeom>
              <a:avLst/>
              <a:gdLst>
                <a:gd name="connsiteX0" fmla="*/ 467303 w 5701093"/>
                <a:gd name="connsiteY0" fmla="*/ 0 h 805694"/>
                <a:gd name="connsiteX1" fmla="*/ 5233791 w 5701093"/>
                <a:gd name="connsiteY1" fmla="*/ 0 h 805694"/>
                <a:gd name="connsiteX2" fmla="*/ 5701093 w 5701093"/>
                <a:gd name="connsiteY2" fmla="*/ 805694 h 805694"/>
                <a:gd name="connsiteX3" fmla="*/ 0 w 5701093"/>
                <a:gd name="connsiteY3" fmla="*/ 805694 h 805694"/>
              </a:gdLst>
              <a:ahLst/>
              <a:cxnLst>
                <a:cxn ang="0">
                  <a:pos x="connsiteX0" y="connsiteY0"/>
                </a:cxn>
                <a:cxn ang="0">
                  <a:pos x="connsiteX1" y="connsiteY1"/>
                </a:cxn>
                <a:cxn ang="0">
                  <a:pos x="connsiteX2" y="connsiteY2"/>
                </a:cxn>
                <a:cxn ang="0">
                  <a:pos x="connsiteX3" y="connsiteY3"/>
                </a:cxn>
              </a:cxnLst>
              <a:rect l="l" t="t" r="r" b="b"/>
              <a:pathLst>
                <a:path w="5701093" h="805694">
                  <a:moveTo>
                    <a:pt x="467303" y="0"/>
                  </a:moveTo>
                  <a:lnTo>
                    <a:pt x="5233791" y="0"/>
                  </a:lnTo>
                  <a:lnTo>
                    <a:pt x="5701093" y="805694"/>
                  </a:lnTo>
                  <a:lnTo>
                    <a:pt x="0" y="805694"/>
                  </a:lnTo>
                  <a:close/>
                </a:path>
              </a:pathLst>
            </a:cu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a:p>
          </p:txBody>
        </p:sp>
        <p:sp>
          <p:nvSpPr>
            <p:cNvPr id="72" name="AutoShape 4"/>
            <p:cNvSpPr/>
            <p:nvPr>
              <p:custDataLst>
                <p:tags r:id="rId7"/>
              </p:custDataLst>
            </p:nvPr>
          </p:nvSpPr>
          <p:spPr bwMode="auto">
            <a:xfrm>
              <a:off x="13420" y="3890"/>
              <a:ext cx="1339" cy="649"/>
            </a:xfrm>
            <a:custGeom>
              <a:avLst/>
              <a:gdLst>
                <a:gd name="T0" fmla="*/ 0 w 21600"/>
                <a:gd name="T1" fmla="*/ 21600 h 21600"/>
                <a:gd name="T2" fmla="*/ 21600 w 21600"/>
                <a:gd name="T3" fmla="*/ 21600 h 21600"/>
                <a:gd name="T4" fmla="*/ 16167 w 21600"/>
                <a:gd name="T5" fmla="*/ 0 h 21600"/>
                <a:gd name="T6" fmla="*/ 5432 w 21600"/>
                <a:gd name="T7" fmla="*/ 0 h 21600"/>
                <a:gd name="T8" fmla="*/ 0 w 21600"/>
                <a:gd name="T9" fmla="*/ 21600 h 21600"/>
                <a:gd name="T10" fmla="*/ 0 w 21600"/>
                <a:gd name="T11" fmla="*/ 21600 h 21600"/>
              </a:gdLst>
              <a:ahLst/>
              <a:cxnLst>
                <a:cxn ang="0">
                  <a:pos x="T0" y="T1"/>
                </a:cxn>
                <a:cxn ang="0">
                  <a:pos x="T2" y="T3"/>
                </a:cxn>
                <a:cxn ang="0">
                  <a:pos x="T4" y="T5"/>
                </a:cxn>
                <a:cxn ang="0">
                  <a:pos x="T6" y="T7"/>
                </a:cxn>
                <a:cxn ang="0">
                  <a:pos x="T8" y="T9"/>
                </a:cxn>
                <a:cxn ang="0">
                  <a:pos x="T10" y="T11"/>
                </a:cxn>
              </a:cxnLst>
              <a:rect l="0" t="0" r="r" b="b"/>
              <a:pathLst>
                <a:path w="21600" h="21600">
                  <a:moveTo>
                    <a:pt x="0" y="21600"/>
                  </a:moveTo>
                  <a:lnTo>
                    <a:pt x="21600" y="21600"/>
                  </a:lnTo>
                  <a:lnTo>
                    <a:pt x="16167" y="0"/>
                  </a:lnTo>
                  <a:lnTo>
                    <a:pt x="5432" y="0"/>
                  </a:lnTo>
                  <a:cubicBezTo>
                    <a:pt x="5432" y="0"/>
                    <a:pt x="0" y="21600"/>
                    <a:pt x="0" y="21600"/>
                  </a:cubicBezTo>
                  <a:close/>
                  <a:moveTo>
                    <a:pt x="0" y="21600"/>
                  </a:moveTo>
                </a:path>
              </a:pathLst>
            </a:custGeom>
            <a:noFill/>
            <a:ln>
              <a:noFill/>
            </a:ln>
          </p:spPr>
          <p:txBody>
            <a:bodyPr lIns="0" tIns="0" rIns="0" bIns="0" anchor="ctr">
              <a:normAutofit fontScale="70000"/>
            </a:bodyPr>
            <a:p>
              <a:pPr algn="ctr"/>
              <a:r>
                <a:rPr lang="zh-CN" altLang="en-US" sz="2800" b="1">
                  <a:solidFill>
                    <a:sysClr val="window" lastClr="FFFFFF"/>
                  </a:solidFill>
                  <a:latin typeface="微软雅黑" panose="020B0503020204020204" pitchFamily="34" charset="-122"/>
                  <a:ea typeface="微软雅黑" panose="020B0503020204020204" pitchFamily="34" charset="-122"/>
                  <a:cs typeface="+mn-ea"/>
                </a:rPr>
                <a:t>应用</a:t>
              </a:r>
              <a:r>
                <a:rPr lang="zh-CN" altLang="en-US" sz="2800" b="1">
                  <a:solidFill>
                    <a:sysClr val="window" lastClr="FFFFFF"/>
                  </a:solidFill>
                  <a:latin typeface="微软雅黑" panose="020B0503020204020204" pitchFamily="34" charset="-122"/>
                  <a:ea typeface="微软雅黑" panose="020B0503020204020204" pitchFamily="34" charset="-122"/>
                  <a:cs typeface="+mn-ea"/>
                </a:rPr>
                <a:t>安全</a:t>
              </a:r>
              <a:endParaRPr lang="zh-CN" altLang="en-US" sz="2800" b="1">
                <a:solidFill>
                  <a:sysClr val="window" lastClr="FFFFFF"/>
                </a:solidFill>
                <a:latin typeface="微软雅黑" panose="020B0503020204020204" pitchFamily="34" charset="-122"/>
                <a:ea typeface="微软雅黑" panose="020B0503020204020204" pitchFamily="34" charset="-122"/>
                <a:cs typeface="+mn-ea"/>
              </a:endParaRPr>
            </a:p>
          </p:txBody>
        </p:sp>
        <p:sp>
          <p:nvSpPr>
            <p:cNvPr id="73" name="AutoShape 5"/>
            <p:cNvSpPr/>
            <p:nvPr>
              <p:custDataLst>
                <p:tags r:id="rId8"/>
              </p:custDataLst>
            </p:nvPr>
          </p:nvSpPr>
          <p:spPr bwMode="auto">
            <a:xfrm>
              <a:off x="13083" y="4741"/>
              <a:ext cx="2014" cy="645"/>
            </a:xfrm>
            <a:custGeom>
              <a:avLst/>
              <a:gdLst>
                <a:gd name="T0" fmla="*/ 0 w 21600"/>
                <a:gd name="T1" fmla="*/ 21600 h 21600"/>
                <a:gd name="T2" fmla="*/ 21600 w 21600"/>
                <a:gd name="T3" fmla="*/ 21600 h 21600"/>
                <a:gd name="T4" fmla="*/ 18007 w 21600"/>
                <a:gd name="T5" fmla="*/ 0 h 21600"/>
                <a:gd name="T6" fmla="*/ 3593 w 21600"/>
                <a:gd name="T7" fmla="*/ 0 h 21600"/>
                <a:gd name="T8" fmla="*/ 0 w 21600"/>
                <a:gd name="T9" fmla="*/ 21600 h 21600"/>
                <a:gd name="T10" fmla="*/ 0 w 21600"/>
                <a:gd name="T11" fmla="*/ 21600 h 21600"/>
              </a:gdLst>
              <a:ahLst/>
              <a:cxnLst>
                <a:cxn ang="0">
                  <a:pos x="T0" y="T1"/>
                </a:cxn>
                <a:cxn ang="0">
                  <a:pos x="T2" y="T3"/>
                </a:cxn>
                <a:cxn ang="0">
                  <a:pos x="T4" y="T5"/>
                </a:cxn>
                <a:cxn ang="0">
                  <a:pos x="T6" y="T7"/>
                </a:cxn>
                <a:cxn ang="0">
                  <a:pos x="T8" y="T9"/>
                </a:cxn>
                <a:cxn ang="0">
                  <a:pos x="T10" y="T11"/>
                </a:cxn>
              </a:cxnLst>
              <a:rect l="0" t="0" r="r" b="b"/>
              <a:pathLst>
                <a:path w="21600" h="21600">
                  <a:moveTo>
                    <a:pt x="0" y="21600"/>
                  </a:moveTo>
                  <a:lnTo>
                    <a:pt x="21600" y="21600"/>
                  </a:lnTo>
                  <a:lnTo>
                    <a:pt x="18007" y="0"/>
                  </a:lnTo>
                  <a:lnTo>
                    <a:pt x="3593" y="0"/>
                  </a:lnTo>
                  <a:cubicBezTo>
                    <a:pt x="3593" y="0"/>
                    <a:pt x="0" y="21600"/>
                    <a:pt x="0" y="21600"/>
                  </a:cubicBezTo>
                  <a:close/>
                  <a:moveTo>
                    <a:pt x="0" y="21600"/>
                  </a:moveTo>
                </a:path>
              </a:pathLst>
            </a:custGeom>
            <a:noFill/>
            <a:ln>
              <a:noFill/>
            </a:ln>
          </p:spPr>
          <p:txBody>
            <a:bodyPr lIns="0" tIns="0" rIns="0" bIns="0" anchor="ctr">
              <a:normAutofit fontScale="90000"/>
            </a:bodyPr>
            <a:p>
              <a:pPr algn="ctr"/>
              <a:r>
                <a:rPr lang="zh-CN" altLang="en-US" sz="2800" b="1">
                  <a:solidFill>
                    <a:sysClr val="window" lastClr="FFFFFF"/>
                  </a:solidFill>
                  <a:latin typeface="微软雅黑" panose="020B0503020204020204" pitchFamily="34" charset="-122"/>
                  <a:ea typeface="微软雅黑" panose="020B0503020204020204" pitchFamily="34" charset="-122"/>
                  <a:cs typeface="+mn-ea"/>
                </a:rPr>
                <a:t>系统</a:t>
              </a:r>
              <a:r>
                <a:rPr lang="zh-CN" altLang="en-US" sz="2800" b="1">
                  <a:solidFill>
                    <a:sysClr val="window" lastClr="FFFFFF"/>
                  </a:solidFill>
                  <a:latin typeface="微软雅黑" panose="020B0503020204020204" pitchFamily="34" charset="-122"/>
                  <a:ea typeface="微软雅黑" panose="020B0503020204020204" pitchFamily="34" charset="-122"/>
                  <a:cs typeface="+mn-ea"/>
                </a:rPr>
                <a:t>安全</a:t>
              </a:r>
              <a:endParaRPr lang="zh-CN" altLang="en-US" sz="2800" b="1">
                <a:solidFill>
                  <a:sysClr val="window" lastClr="FFFFFF"/>
                </a:solidFill>
                <a:latin typeface="微软雅黑" panose="020B0503020204020204" pitchFamily="34" charset="-122"/>
                <a:ea typeface="微软雅黑" panose="020B0503020204020204" pitchFamily="34" charset="-122"/>
                <a:cs typeface="+mn-ea"/>
              </a:endParaRPr>
            </a:p>
          </p:txBody>
        </p:sp>
        <p:sp>
          <p:nvSpPr>
            <p:cNvPr id="74" name="AutoShape 6"/>
            <p:cNvSpPr/>
            <p:nvPr>
              <p:custDataLst>
                <p:tags r:id="rId9"/>
              </p:custDataLst>
            </p:nvPr>
          </p:nvSpPr>
          <p:spPr bwMode="auto">
            <a:xfrm>
              <a:off x="12741" y="5589"/>
              <a:ext cx="2698" cy="650"/>
            </a:xfrm>
            <a:custGeom>
              <a:avLst/>
              <a:gdLst>
                <a:gd name="T0" fmla="*/ 0 w 21600"/>
                <a:gd name="T1" fmla="*/ 21600 h 21600"/>
                <a:gd name="T2" fmla="*/ 21600 w 21600"/>
                <a:gd name="T3" fmla="*/ 21600 h 21600"/>
                <a:gd name="T4" fmla="*/ 18901 w 21600"/>
                <a:gd name="T5" fmla="*/ 0 h 21600"/>
                <a:gd name="T6" fmla="*/ 2699 w 21600"/>
                <a:gd name="T7" fmla="*/ 0 h 21600"/>
                <a:gd name="T8" fmla="*/ 0 w 21600"/>
                <a:gd name="T9" fmla="*/ 21600 h 21600"/>
                <a:gd name="T10" fmla="*/ 0 w 21600"/>
                <a:gd name="T11" fmla="*/ 21600 h 21600"/>
              </a:gdLst>
              <a:ahLst/>
              <a:cxnLst>
                <a:cxn ang="0">
                  <a:pos x="T0" y="T1"/>
                </a:cxn>
                <a:cxn ang="0">
                  <a:pos x="T2" y="T3"/>
                </a:cxn>
                <a:cxn ang="0">
                  <a:pos x="T4" y="T5"/>
                </a:cxn>
                <a:cxn ang="0">
                  <a:pos x="T6" y="T7"/>
                </a:cxn>
                <a:cxn ang="0">
                  <a:pos x="T8" y="T9"/>
                </a:cxn>
                <a:cxn ang="0">
                  <a:pos x="T10" y="T11"/>
                </a:cxn>
              </a:cxnLst>
              <a:rect l="0" t="0" r="r" b="b"/>
              <a:pathLst>
                <a:path w="21600" h="21600">
                  <a:moveTo>
                    <a:pt x="0" y="21600"/>
                  </a:moveTo>
                  <a:lnTo>
                    <a:pt x="21600" y="21600"/>
                  </a:lnTo>
                  <a:lnTo>
                    <a:pt x="18901" y="0"/>
                  </a:lnTo>
                  <a:lnTo>
                    <a:pt x="2699" y="0"/>
                  </a:lnTo>
                  <a:cubicBezTo>
                    <a:pt x="2699" y="0"/>
                    <a:pt x="0" y="21600"/>
                    <a:pt x="0" y="21600"/>
                  </a:cubicBezTo>
                  <a:close/>
                  <a:moveTo>
                    <a:pt x="0" y="21600"/>
                  </a:moveTo>
                </a:path>
              </a:pathLst>
            </a:custGeom>
            <a:noFill/>
            <a:ln>
              <a:noFill/>
            </a:ln>
          </p:spPr>
          <p:txBody>
            <a:bodyPr lIns="0" tIns="0" rIns="0" bIns="0" anchor="ctr">
              <a:normAutofit fontScale="90000"/>
            </a:bodyPr>
            <a:p>
              <a:pPr algn="ctr"/>
              <a:r>
                <a:rPr lang="zh-CN" altLang="en-US" sz="2800" b="1">
                  <a:solidFill>
                    <a:sysClr val="window" lastClr="FFFFFF"/>
                  </a:solidFill>
                  <a:latin typeface="微软雅黑" panose="020B0503020204020204" pitchFamily="34" charset="-122"/>
                  <a:ea typeface="微软雅黑" panose="020B0503020204020204" pitchFamily="34" charset="-122"/>
                  <a:cs typeface="+mn-ea"/>
                </a:rPr>
                <a:t>网络</a:t>
              </a:r>
              <a:r>
                <a:rPr lang="zh-CN" altLang="en-US" sz="2800" b="1">
                  <a:solidFill>
                    <a:sysClr val="window" lastClr="FFFFFF"/>
                  </a:solidFill>
                  <a:latin typeface="微软雅黑" panose="020B0503020204020204" pitchFamily="34" charset="-122"/>
                  <a:ea typeface="微软雅黑" panose="020B0503020204020204" pitchFamily="34" charset="-122"/>
                  <a:cs typeface="+mn-ea"/>
                </a:rPr>
                <a:t>安全</a:t>
              </a:r>
              <a:endParaRPr lang="zh-CN" altLang="en-US" sz="2800" b="1">
                <a:solidFill>
                  <a:sysClr val="window" lastClr="FFFFFF"/>
                </a:solidFill>
                <a:latin typeface="微软雅黑" panose="020B0503020204020204" pitchFamily="34" charset="-122"/>
                <a:ea typeface="微软雅黑" panose="020B0503020204020204" pitchFamily="34" charset="-122"/>
                <a:cs typeface="+mn-ea"/>
              </a:endParaRPr>
            </a:p>
          </p:txBody>
        </p:sp>
        <p:sp>
          <p:nvSpPr>
            <p:cNvPr id="75" name="AutoShape 7"/>
            <p:cNvSpPr/>
            <p:nvPr>
              <p:custDataLst>
                <p:tags r:id="rId10"/>
              </p:custDataLst>
            </p:nvPr>
          </p:nvSpPr>
          <p:spPr bwMode="auto">
            <a:xfrm>
              <a:off x="12423" y="6457"/>
              <a:ext cx="3334" cy="613"/>
            </a:xfrm>
            <a:custGeom>
              <a:avLst/>
              <a:gdLst>
                <a:gd name="T0" fmla="*/ 0 w 21600"/>
                <a:gd name="T1" fmla="*/ 21600 h 21600"/>
                <a:gd name="T2" fmla="*/ 10783 w 21600"/>
                <a:gd name="T3" fmla="*/ 21600 h 21600"/>
                <a:gd name="T4" fmla="*/ 10817 w 21600"/>
                <a:gd name="T5" fmla="*/ 21600 h 21600"/>
                <a:gd name="T6" fmla="*/ 21600 w 21600"/>
                <a:gd name="T7" fmla="*/ 21600 h 21600"/>
                <a:gd name="T8" fmla="*/ 19540 w 21600"/>
                <a:gd name="T9" fmla="*/ 0 h 21600"/>
                <a:gd name="T10" fmla="*/ 2060 w 21600"/>
                <a:gd name="T11" fmla="*/ 0 h 21600"/>
                <a:gd name="T12" fmla="*/ 0 w 21600"/>
                <a:gd name="T13" fmla="*/ 21600 h 21600"/>
                <a:gd name="T14" fmla="*/ 0 w 21600"/>
                <a:gd name="T15" fmla="*/ 21600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21600">
                  <a:moveTo>
                    <a:pt x="0" y="21600"/>
                  </a:moveTo>
                  <a:lnTo>
                    <a:pt x="10783" y="21600"/>
                  </a:lnTo>
                  <a:lnTo>
                    <a:pt x="10817" y="21600"/>
                  </a:lnTo>
                  <a:lnTo>
                    <a:pt x="21600" y="21600"/>
                  </a:lnTo>
                  <a:lnTo>
                    <a:pt x="19540" y="0"/>
                  </a:lnTo>
                  <a:lnTo>
                    <a:pt x="2060" y="0"/>
                  </a:lnTo>
                  <a:cubicBezTo>
                    <a:pt x="2060" y="0"/>
                    <a:pt x="0" y="21600"/>
                    <a:pt x="0" y="21600"/>
                  </a:cubicBezTo>
                  <a:close/>
                  <a:moveTo>
                    <a:pt x="0" y="21600"/>
                  </a:moveTo>
                </a:path>
              </a:pathLst>
            </a:custGeom>
            <a:noFill/>
            <a:ln>
              <a:noFill/>
            </a:ln>
          </p:spPr>
          <p:txBody>
            <a:bodyPr lIns="0" tIns="0" rIns="0" bIns="0" anchor="ctr">
              <a:normAutofit fontScale="90000"/>
            </a:bodyPr>
            <a:p>
              <a:pPr algn="ctr"/>
              <a:r>
                <a:rPr lang="zh-CN" altLang="en-US" sz="2800" b="1">
                  <a:solidFill>
                    <a:sysClr val="window" lastClr="FFFFFF"/>
                  </a:solidFill>
                  <a:latin typeface="微软雅黑" panose="020B0503020204020204" pitchFamily="34" charset="-122"/>
                  <a:ea typeface="微软雅黑" panose="020B0503020204020204" pitchFamily="34" charset="-122"/>
                  <a:cs typeface="+mn-ea"/>
                </a:rPr>
                <a:t>密码</a:t>
              </a:r>
              <a:r>
                <a:rPr lang="zh-CN" altLang="en-US" sz="2800" b="1">
                  <a:solidFill>
                    <a:sysClr val="window" lastClr="FFFFFF"/>
                  </a:solidFill>
                  <a:latin typeface="微软雅黑" panose="020B0503020204020204" pitchFamily="34" charset="-122"/>
                  <a:ea typeface="微软雅黑" panose="020B0503020204020204" pitchFamily="34" charset="-122"/>
                  <a:cs typeface="+mn-ea"/>
                </a:rPr>
                <a:t>协议</a:t>
              </a:r>
              <a:endParaRPr lang="zh-CN" altLang="en-US" sz="2800" b="1">
                <a:solidFill>
                  <a:sysClr val="window" lastClr="FFFFFF"/>
                </a:solidFill>
                <a:latin typeface="微软雅黑" panose="020B0503020204020204" pitchFamily="34" charset="-122"/>
                <a:ea typeface="微软雅黑" panose="020B0503020204020204" pitchFamily="34" charset="-122"/>
                <a:cs typeface="+mn-ea"/>
              </a:endParaRPr>
            </a:p>
          </p:txBody>
        </p:sp>
        <p:sp>
          <p:nvSpPr>
            <p:cNvPr id="76" name="AutoShape 7"/>
            <p:cNvSpPr/>
            <p:nvPr>
              <p:custDataLst>
                <p:tags r:id="rId11"/>
              </p:custDataLst>
            </p:nvPr>
          </p:nvSpPr>
          <p:spPr bwMode="auto">
            <a:xfrm>
              <a:off x="12058" y="7307"/>
              <a:ext cx="4064" cy="613"/>
            </a:xfrm>
            <a:custGeom>
              <a:avLst/>
              <a:gdLst>
                <a:gd name="T0" fmla="*/ 0 w 21600"/>
                <a:gd name="T1" fmla="*/ 21600 h 21600"/>
                <a:gd name="T2" fmla="*/ 10783 w 21600"/>
                <a:gd name="T3" fmla="*/ 21600 h 21600"/>
                <a:gd name="T4" fmla="*/ 10817 w 21600"/>
                <a:gd name="T5" fmla="*/ 21600 h 21600"/>
                <a:gd name="T6" fmla="*/ 21600 w 21600"/>
                <a:gd name="T7" fmla="*/ 21600 h 21600"/>
                <a:gd name="T8" fmla="*/ 19540 w 21600"/>
                <a:gd name="T9" fmla="*/ 0 h 21600"/>
                <a:gd name="T10" fmla="*/ 2060 w 21600"/>
                <a:gd name="T11" fmla="*/ 0 h 21600"/>
                <a:gd name="T12" fmla="*/ 0 w 21600"/>
                <a:gd name="T13" fmla="*/ 21600 h 21600"/>
                <a:gd name="T14" fmla="*/ 0 w 21600"/>
                <a:gd name="T15" fmla="*/ 21600 h 21600"/>
                <a:gd name="connsiteX0" fmla="*/ 0 w 21600"/>
                <a:gd name="connsiteY0" fmla="*/ 21600 h 21600"/>
                <a:gd name="connsiteX1" fmla="*/ 10783 w 21600"/>
                <a:gd name="connsiteY1" fmla="*/ 21600 h 21600"/>
                <a:gd name="connsiteX2" fmla="*/ 10817 w 21600"/>
                <a:gd name="connsiteY2" fmla="*/ 21600 h 21600"/>
                <a:gd name="connsiteX3" fmla="*/ 21600 w 21600"/>
                <a:gd name="connsiteY3" fmla="*/ 21600 h 21600"/>
                <a:gd name="connsiteX4" fmla="*/ 19540 w 21600"/>
                <a:gd name="connsiteY4" fmla="*/ 0 h 21600"/>
                <a:gd name="connsiteX5" fmla="*/ 1942 w 21600"/>
                <a:gd name="connsiteY5" fmla="*/ 0 h 21600"/>
                <a:gd name="connsiteX6" fmla="*/ 0 w 21600"/>
                <a:gd name="connsiteY6" fmla="*/ 21600 h 21600"/>
                <a:gd name="connsiteX7" fmla="*/ 0 w 21600"/>
                <a:gd name="connsiteY7" fmla="*/ 21600 h 21600"/>
                <a:gd name="connsiteX0-1" fmla="*/ 0 w 21600"/>
                <a:gd name="connsiteY0-2" fmla="*/ 21600 h 21600"/>
                <a:gd name="connsiteX1-3" fmla="*/ 10783 w 21600"/>
                <a:gd name="connsiteY1-4" fmla="*/ 21600 h 21600"/>
                <a:gd name="connsiteX2-5" fmla="*/ 10817 w 21600"/>
                <a:gd name="connsiteY2-6" fmla="*/ 21600 h 21600"/>
                <a:gd name="connsiteX3-7" fmla="*/ 21600 w 21600"/>
                <a:gd name="connsiteY3-8" fmla="*/ 21600 h 21600"/>
                <a:gd name="connsiteX4-9" fmla="*/ 19658 w 21600"/>
                <a:gd name="connsiteY4-10" fmla="*/ 0 h 21600"/>
                <a:gd name="connsiteX5-11" fmla="*/ 1942 w 21600"/>
                <a:gd name="connsiteY5-12" fmla="*/ 0 h 21600"/>
                <a:gd name="connsiteX6-13" fmla="*/ 0 w 21600"/>
                <a:gd name="connsiteY6-14" fmla="*/ 21600 h 21600"/>
                <a:gd name="connsiteX7-15" fmla="*/ 0 w 21600"/>
                <a:gd name="connsiteY7-16" fmla="*/ 21600 h 21600"/>
                <a:gd name="connsiteX0-17" fmla="*/ 0 w 21600"/>
                <a:gd name="connsiteY0-18" fmla="*/ 21600 h 21600"/>
                <a:gd name="connsiteX1-19" fmla="*/ 10783 w 21600"/>
                <a:gd name="connsiteY1-20" fmla="*/ 21600 h 21600"/>
                <a:gd name="connsiteX2-21" fmla="*/ 10817 w 21600"/>
                <a:gd name="connsiteY2-22" fmla="*/ 21600 h 21600"/>
                <a:gd name="connsiteX3-23" fmla="*/ 21600 w 21600"/>
                <a:gd name="connsiteY3-24" fmla="*/ 21600 h 21600"/>
                <a:gd name="connsiteX4-25" fmla="*/ 19765 w 21600"/>
                <a:gd name="connsiteY4-26" fmla="*/ 0 h 21600"/>
                <a:gd name="connsiteX5-27" fmla="*/ 1942 w 21600"/>
                <a:gd name="connsiteY5-28" fmla="*/ 0 h 21600"/>
                <a:gd name="connsiteX6-29" fmla="*/ 0 w 21600"/>
                <a:gd name="connsiteY6-30" fmla="*/ 21600 h 21600"/>
                <a:gd name="connsiteX7-31" fmla="*/ 0 w 21600"/>
                <a:gd name="connsiteY7-32" fmla="*/ 21600 h 21600"/>
              </a:gdLst>
              <a:ahLst/>
              <a:cxnLst>
                <a:cxn ang="0">
                  <a:pos x="connsiteX0-17" y="connsiteY0-18"/>
                </a:cxn>
                <a:cxn ang="0">
                  <a:pos x="connsiteX1-19" y="connsiteY1-20"/>
                </a:cxn>
                <a:cxn ang="0">
                  <a:pos x="connsiteX2-21" y="connsiteY2-22"/>
                </a:cxn>
                <a:cxn ang="0">
                  <a:pos x="connsiteX3-23" y="connsiteY3-24"/>
                </a:cxn>
                <a:cxn ang="0">
                  <a:pos x="connsiteX4-25" y="connsiteY4-26"/>
                </a:cxn>
                <a:cxn ang="0">
                  <a:pos x="connsiteX5-27" y="connsiteY5-28"/>
                </a:cxn>
                <a:cxn ang="0">
                  <a:pos x="connsiteX6-29" y="connsiteY6-30"/>
                </a:cxn>
                <a:cxn ang="0">
                  <a:pos x="connsiteX7-31" y="connsiteY7-32"/>
                </a:cxn>
              </a:cxnLst>
              <a:rect l="l" t="t" r="r" b="b"/>
              <a:pathLst>
                <a:path w="21600" h="21600">
                  <a:moveTo>
                    <a:pt x="0" y="21600"/>
                  </a:moveTo>
                  <a:lnTo>
                    <a:pt x="10783" y="21600"/>
                  </a:lnTo>
                  <a:lnTo>
                    <a:pt x="10817" y="21600"/>
                  </a:lnTo>
                  <a:lnTo>
                    <a:pt x="21600" y="21600"/>
                  </a:lnTo>
                  <a:lnTo>
                    <a:pt x="19765" y="0"/>
                  </a:lnTo>
                  <a:lnTo>
                    <a:pt x="1942" y="0"/>
                  </a:lnTo>
                  <a:lnTo>
                    <a:pt x="0" y="21600"/>
                  </a:lnTo>
                  <a:close/>
                  <a:moveTo>
                    <a:pt x="0" y="21600"/>
                  </a:moveTo>
                </a:path>
              </a:pathLst>
            </a:custGeom>
            <a:noFill/>
            <a:ln>
              <a:noFill/>
            </a:ln>
          </p:spPr>
          <p:txBody>
            <a:bodyPr lIns="0" tIns="0" rIns="0" bIns="0" anchor="ctr">
              <a:normAutofit fontScale="90000"/>
            </a:bodyPr>
            <a:p>
              <a:pPr algn="ctr"/>
              <a:r>
                <a:rPr lang="zh-CN" altLang="en-US" sz="2800" b="1">
                  <a:solidFill>
                    <a:sysClr val="window" lastClr="FFFFFF"/>
                  </a:solidFill>
                  <a:latin typeface="微软雅黑" panose="020B0503020204020204" pitchFamily="34" charset="-122"/>
                  <a:ea typeface="微软雅黑" panose="020B0503020204020204" pitchFamily="34" charset="-122"/>
                  <a:cs typeface="+mn-ea"/>
                </a:rPr>
                <a:t>安全的密码</a:t>
              </a:r>
              <a:r>
                <a:rPr lang="zh-CN" altLang="en-US" sz="2800" b="1">
                  <a:solidFill>
                    <a:sysClr val="window" lastClr="FFFFFF"/>
                  </a:solidFill>
                  <a:latin typeface="微软雅黑" panose="020B0503020204020204" pitchFamily="34" charset="-122"/>
                  <a:ea typeface="微软雅黑" panose="020B0503020204020204" pitchFamily="34" charset="-122"/>
                  <a:cs typeface="+mn-ea"/>
                </a:rPr>
                <a:t>算法</a:t>
              </a:r>
              <a:endParaRPr lang="zh-CN" altLang="en-US" sz="2800" b="1">
                <a:solidFill>
                  <a:sysClr val="window" lastClr="FFFFFF"/>
                </a:solidFill>
                <a:latin typeface="微软雅黑" panose="020B0503020204020204" pitchFamily="34" charset="-122"/>
                <a:ea typeface="微软雅黑" panose="020B0503020204020204" pitchFamily="34" charset="-122"/>
                <a:cs typeface="+mn-ea"/>
              </a:endParaRPr>
            </a:p>
          </p:txBody>
        </p:sp>
      </p:grpSp>
      <p:sp>
        <p:nvSpPr>
          <p:cNvPr id="78" name="文本框 77"/>
          <p:cNvSpPr txBox="1"/>
          <p:nvPr/>
        </p:nvSpPr>
        <p:spPr>
          <a:xfrm>
            <a:off x="6887210" y="5434965"/>
            <a:ext cx="4523740" cy="460375"/>
          </a:xfrm>
          <a:prstGeom prst="rect">
            <a:avLst/>
          </a:prstGeom>
          <a:noFill/>
        </p:spPr>
        <p:txBody>
          <a:bodyPr wrap="square" rtlCol="0">
            <a:spAutoFit/>
          </a:bodyPr>
          <a:p>
            <a:pPr algn="ctr"/>
            <a:r>
              <a:rPr lang="zh-CN" altLang="en-US" sz="2400">
                <a:sym typeface="+mn-ea"/>
              </a:rPr>
              <a:t>二、</a:t>
            </a:r>
            <a:r>
              <a:rPr lang="zh-CN" altLang="en-US" sz="2400"/>
              <a:t>密码学在信息安全中的地位</a:t>
            </a:r>
            <a:endParaRPr lang="zh-CN" altLang="en-US" sz="2400"/>
          </a:p>
        </p:txBody>
      </p:sp>
      <p:sp>
        <p:nvSpPr>
          <p:cNvPr id="5" name="标题 4"/>
          <p:cNvSpPr>
            <a:spLocks noGrp="1"/>
          </p:cNvSpPr>
          <p:nvPr>
            <p:ph type="title" idx="4294967295"/>
          </p:nvPr>
        </p:nvSpPr>
        <p:spPr>
          <a:xfrm>
            <a:off x="0" y="253365"/>
            <a:ext cx="8867775" cy="757555"/>
          </a:xfrm>
        </p:spPr>
        <p:txBody>
          <a:bodyPr>
            <a:normAutofit/>
          </a:bodyPr>
          <a:p>
            <a:r>
              <a:rPr sz="3600" spc="300">
                <a:sym typeface="+mn-ea"/>
              </a:rPr>
              <a:t>为什么要讲</a:t>
            </a:r>
            <a:r>
              <a:rPr sz="3600" spc="300">
                <a:sym typeface="+mn-ea"/>
              </a:rPr>
              <a:t>密码学</a:t>
            </a:r>
            <a:endParaRPr sz="3600" spc="3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78" grpId="0"/>
      <p:bldP spid="7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a:sym typeface="+mn-ea"/>
              </a:rPr>
              <a:t>信息安全面临哪些威胁</a:t>
            </a:r>
            <a:endParaRPr sz="3600" spc="300" dirty="0">
              <a:sym typeface="+mn-ea"/>
            </a:endParaRPr>
          </a:p>
        </p:txBody>
      </p:sp>
      <p:sp>
        <p:nvSpPr>
          <p:cNvPr id="7" name="文本框 6"/>
          <p:cNvSpPr txBox="1"/>
          <p:nvPr/>
        </p:nvSpPr>
        <p:spPr>
          <a:xfrm>
            <a:off x="6873875" y="1670685"/>
            <a:ext cx="4686300" cy="460375"/>
          </a:xfrm>
          <a:prstGeom prst="rect">
            <a:avLst/>
          </a:prstGeom>
          <a:noFill/>
        </p:spPr>
        <p:txBody>
          <a:bodyPr wrap="square" rtlCol="0">
            <a:spAutoFit/>
          </a:bodyPr>
          <a:p>
            <a:pPr algn="l">
              <a:lnSpc>
                <a:spcPct val="100000"/>
              </a:lnSpc>
            </a:pPr>
            <a:r>
              <a:rPr lang="en-US" altLang="zh-CN" sz="2400">
                <a:latin typeface="等线" panose="02010600030101010101" charset="-122"/>
                <a:ea typeface="等线" panose="02010600030101010101" charset="-122"/>
                <a:cs typeface="等线" panose="02010600030101010101" charset="-122"/>
              </a:rPr>
              <a:t>1. </a:t>
            </a:r>
            <a:r>
              <a:rPr lang="zh-CN" altLang="en-US" sz="2400">
                <a:latin typeface="等线" panose="02010600030101010101" charset="-122"/>
                <a:ea typeface="等线" panose="02010600030101010101" charset="-122"/>
                <a:cs typeface="等线" panose="02010600030101010101" charset="-122"/>
              </a:rPr>
              <a:t>窃听</a:t>
            </a:r>
            <a:r>
              <a:rPr lang="en-US" altLang="zh-CN" sz="2400">
                <a:latin typeface="等线" panose="02010600030101010101" charset="-122"/>
                <a:ea typeface="等线" panose="02010600030101010101" charset="-122"/>
                <a:cs typeface="等线" panose="02010600030101010101" charset="-122"/>
              </a:rPr>
              <a:t> </a:t>
            </a:r>
            <a:r>
              <a:rPr lang="zh-CN" altLang="en-US" sz="1600">
                <a:latin typeface="等线" panose="02010600030101010101" charset="-122"/>
                <a:ea typeface="等线" panose="02010600030101010101" charset="-122"/>
                <a:cs typeface="等线" panose="02010600030101010101" charset="-122"/>
              </a:rPr>
              <a:t>泄露秘密。</a:t>
            </a:r>
            <a:endParaRPr lang="zh-CN" altLang="en-US" sz="1600">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6873875" y="2511425"/>
            <a:ext cx="4685665" cy="460375"/>
          </a:xfrm>
          <a:prstGeom prst="rect">
            <a:avLst/>
          </a:prstGeom>
          <a:noFill/>
        </p:spPr>
        <p:txBody>
          <a:bodyPr wrap="square" rtlCol="0">
            <a:spAutoFit/>
          </a:bodyPr>
          <a:p>
            <a:pPr algn="l">
              <a:lnSpc>
                <a:spcPct val="100000"/>
              </a:lnSpc>
            </a:pPr>
            <a:r>
              <a:rPr lang="en-US" altLang="zh-CN" sz="2400">
                <a:latin typeface="等线" panose="02010600030101010101" charset="-122"/>
                <a:ea typeface="等线" panose="02010600030101010101" charset="-122"/>
                <a:cs typeface="等线" panose="02010600030101010101" charset="-122"/>
              </a:rPr>
              <a:t>2. </a:t>
            </a:r>
            <a:r>
              <a:rPr lang="zh-CN" altLang="en-US" sz="2400">
                <a:latin typeface="等线" panose="02010600030101010101" charset="-122"/>
                <a:ea typeface="等线" panose="02010600030101010101" charset="-122"/>
                <a:cs typeface="等线" panose="02010600030101010101" charset="-122"/>
              </a:rPr>
              <a:t>篡改</a:t>
            </a:r>
            <a:r>
              <a:rPr lang="en-US" altLang="zh-CN" sz="1600">
                <a:latin typeface="等线" panose="02010600030101010101" charset="-122"/>
                <a:ea typeface="等线" panose="02010600030101010101" charset="-122"/>
                <a:cs typeface="等线" panose="02010600030101010101" charset="-122"/>
              </a:rPr>
              <a:t> </a:t>
            </a:r>
            <a:r>
              <a:rPr lang="zh-CN" altLang="en-US" sz="1600">
                <a:latin typeface="等线" panose="02010600030101010101" charset="-122"/>
                <a:ea typeface="等线" panose="02010600030101010101" charset="-122"/>
                <a:cs typeface="等线" panose="02010600030101010101" charset="-122"/>
              </a:rPr>
              <a:t>修改信息。</a:t>
            </a:r>
            <a:endParaRPr lang="zh-CN" altLang="en-US" sz="1600">
              <a:latin typeface="等线" panose="02010600030101010101" charset="-122"/>
              <a:ea typeface="等线" panose="02010600030101010101" charset="-122"/>
              <a:cs typeface="等线" panose="02010600030101010101" charset="-122"/>
            </a:endParaRPr>
          </a:p>
        </p:txBody>
      </p:sp>
      <p:sp>
        <p:nvSpPr>
          <p:cNvPr id="4" name="文本框 3"/>
          <p:cNvSpPr txBox="1"/>
          <p:nvPr/>
        </p:nvSpPr>
        <p:spPr>
          <a:xfrm>
            <a:off x="6873875" y="3352165"/>
            <a:ext cx="4685665" cy="460375"/>
          </a:xfrm>
          <a:prstGeom prst="rect">
            <a:avLst/>
          </a:prstGeom>
          <a:noFill/>
        </p:spPr>
        <p:txBody>
          <a:bodyPr wrap="square" rtlCol="0">
            <a:spAutoFit/>
          </a:bodyPr>
          <a:p>
            <a:pPr algn="l">
              <a:lnSpc>
                <a:spcPct val="100000"/>
              </a:lnSpc>
            </a:pPr>
            <a:r>
              <a:rPr lang="en-US" altLang="zh-CN" sz="2400">
                <a:latin typeface="等线" panose="02010600030101010101" charset="-122"/>
                <a:ea typeface="等线" panose="02010600030101010101" charset="-122"/>
                <a:cs typeface="等线" panose="02010600030101010101" charset="-122"/>
              </a:rPr>
              <a:t>3. </a:t>
            </a:r>
            <a:r>
              <a:rPr lang="zh-CN" altLang="en-US" sz="2400">
                <a:latin typeface="等线" panose="02010600030101010101" charset="-122"/>
                <a:ea typeface="等线" panose="02010600030101010101" charset="-122"/>
                <a:cs typeface="等线" panose="02010600030101010101" charset="-122"/>
              </a:rPr>
              <a:t>伪装</a:t>
            </a:r>
            <a:r>
              <a:rPr lang="en-US" altLang="zh-CN" sz="2400">
                <a:latin typeface="等线" panose="02010600030101010101" charset="-122"/>
                <a:ea typeface="等线" panose="02010600030101010101" charset="-122"/>
                <a:cs typeface="等线" panose="02010600030101010101" charset="-122"/>
              </a:rPr>
              <a:t> </a:t>
            </a:r>
            <a:r>
              <a:rPr lang="zh-CN" altLang="en-US" sz="1600">
                <a:latin typeface="等线" panose="02010600030101010101" charset="-122"/>
                <a:ea typeface="等线" panose="02010600030101010101" charset="-122"/>
                <a:cs typeface="等线" panose="02010600030101010101" charset="-122"/>
              </a:rPr>
              <a:t>伪装成真正发送者</a:t>
            </a:r>
            <a:endParaRPr lang="zh-CN" altLang="en-US" sz="1600">
              <a:latin typeface="等线" panose="02010600030101010101" charset="-122"/>
              <a:ea typeface="等线" panose="02010600030101010101" charset="-122"/>
              <a:cs typeface="等线" panose="02010600030101010101" charset="-122"/>
            </a:endParaRPr>
          </a:p>
        </p:txBody>
      </p:sp>
      <p:sp>
        <p:nvSpPr>
          <p:cNvPr id="5" name="文本框 4"/>
          <p:cNvSpPr txBox="1"/>
          <p:nvPr/>
        </p:nvSpPr>
        <p:spPr>
          <a:xfrm>
            <a:off x="6873875" y="4192905"/>
            <a:ext cx="4686300" cy="460375"/>
          </a:xfrm>
          <a:prstGeom prst="rect">
            <a:avLst/>
          </a:prstGeom>
          <a:noFill/>
        </p:spPr>
        <p:txBody>
          <a:bodyPr wrap="square" rtlCol="0">
            <a:spAutoFit/>
          </a:bodyPr>
          <a:p>
            <a:pPr algn="l">
              <a:lnSpc>
                <a:spcPct val="100000"/>
              </a:lnSpc>
            </a:pPr>
            <a:r>
              <a:rPr lang="en-US" altLang="zh-CN" sz="2400">
                <a:latin typeface="等线" panose="02010600030101010101" charset="-122"/>
                <a:ea typeface="等线" panose="02010600030101010101" charset="-122"/>
                <a:cs typeface="等线" panose="02010600030101010101" charset="-122"/>
              </a:rPr>
              <a:t>4. </a:t>
            </a:r>
            <a:r>
              <a:rPr lang="zh-CN" altLang="en-US" sz="2400">
                <a:latin typeface="等线" panose="02010600030101010101" charset="-122"/>
                <a:ea typeface="等线" panose="02010600030101010101" charset="-122"/>
                <a:cs typeface="等线" panose="02010600030101010101" charset="-122"/>
              </a:rPr>
              <a:t>否认</a:t>
            </a:r>
            <a:r>
              <a:rPr lang="en-US" altLang="zh-CN" sz="2400">
                <a:latin typeface="等线" panose="02010600030101010101" charset="-122"/>
                <a:ea typeface="等线" panose="02010600030101010101" charset="-122"/>
                <a:cs typeface="等线" panose="02010600030101010101" charset="-122"/>
              </a:rPr>
              <a:t> </a:t>
            </a:r>
            <a:r>
              <a:rPr lang="zh-CN" altLang="en-US" sz="1600">
                <a:latin typeface="等线" panose="02010600030101010101" charset="-122"/>
                <a:ea typeface="等线" panose="02010600030101010101" charset="-122"/>
                <a:cs typeface="等线" panose="02010600030101010101" charset="-122"/>
              </a:rPr>
              <a:t>发送者否认。</a:t>
            </a:r>
            <a:endParaRPr lang="zh-CN" altLang="en-US" sz="1600">
              <a:latin typeface="等线" panose="02010600030101010101" charset="-122"/>
              <a:ea typeface="等线" panose="02010600030101010101" charset="-122"/>
              <a:cs typeface="等线" panose="02010600030101010101" charset="-122"/>
            </a:endParaRPr>
          </a:p>
        </p:txBody>
      </p:sp>
      <p:pic>
        <p:nvPicPr>
          <p:cNvPr id="6" name="图片 5"/>
          <p:cNvPicPr>
            <a:picLocks noChangeAspect="1"/>
          </p:cNvPicPr>
          <p:nvPr/>
        </p:nvPicPr>
        <p:blipFill>
          <a:blip r:embed="rId1"/>
          <a:stretch>
            <a:fillRect/>
          </a:stretch>
        </p:blipFill>
        <p:spPr>
          <a:xfrm>
            <a:off x="591820" y="1092835"/>
            <a:ext cx="5778500" cy="3995420"/>
          </a:xfrm>
          <a:prstGeom prst="rect">
            <a:avLst/>
          </a:prstGeom>
        </p:spPr>
      </p:pic>
      <p:sp>
        <p:nvSpPr>
          <p:cNvPr id="9" name="文本框 8"/>
          <p:cNvSpPr txBox="1"/>
          <p:nvPr/>
        </p:nvSpPr>
        <p:spPr>
          <a:xfrm>
            <a:off x="956628" y="5304790"/>
            <a:ext cx="5048885" cy="460375"/>
          </a:xfrm>
          <a:prstGeom prst="rect">
            <a:avLst/>
          </a:prstGeom>
          <a:noFill/>
        </p:spPr>
        <p:txBody>
          <a:bodyPr wrap="square" rtlCol="0">
            <a:spAutoFit/>
          </a:bodyPr>
          <a:p>
            <a:pPr algn="ctr"/>
            <a:r>
              <a:rPr lang="en-US" altLang="zh-CN" sz="2400"/>
              <a:t>OMS=&gt;WMS </a:t>
            </a:r>
            <a:r>
              <a:rPr lang="zh-CN" altLang="en-US" sz="2400"/>
              <a:t>接口交互</a:t>
            </a:r>
            <a:r>
              <a:rPr lang="zh-CN" altLang="en-US" sz="2400"/>
              <a:t>报文</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2" grpId="0"/>
      <p:bldP spid="2" grpId="1"/>
      <p:bldP spid="4" grpId="0"/>
      <p:bldP spid="4" grpId="1"/>
      <p:bldP spid="5" grpId="0"/>
      <p:bldP spid="5" grpId="1"/>
      <p:bldP spid="9"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a:sym typeface="+mn-ea"/>
              </a:rPr>
              <a:t>什么是现代密码学</a:t>
            </a:r>
            <a:endParaRPr sz="3600" spc="300">
              <a:sym typeface="+mn-ea"/>
            </a:endParaRPr>
          </a:p>
        </p:txBody>
      </p:sp>
      <p:sp>
        <p:nvSpPr>
          <p:cNvPr id="5" name="文本框 4"/>
          <p:cNvSpPr txBox="1"/>
          <p:nvPr/>
        </p:nvSpPr>
        <p:spPr>
          <a:xfrm>
            <a:off x="1178560" y="1998345"/>
            <a:ext cx="10296525" cy="2861310"/>
          </a:xfrm>
          <a:prstGeom prst="rect">
            <a:avLst/>
          </a:prstGeom>
          <a:noFill/>
        </p:spPr>
        <p:txBody>
          <a:bodyPr wrap="square" rtlCol="0">
            <a:spAutoFit/>
          </a:bodyPr>
          <a:p>
            <a:pPr indent="0">
              <a:lnSpc>
                <a:spcPct val="150000"/>
              </a:lnSpc>
              <a:buNone/>
            </a:pPr>
            <a:r>
              <a:rPr lang="zh-CN" altLang="en-US" sz="2400"/>
              <a:t>1883年Kerckhoffs第一次明确提出了密码编码的原则：</a:t>
            </a:r>
            <a:endParaRPr lang="zh-CN" altLang="en-US" sz="2400"/>
          </a:p>
          <a:p>
            <a:pPr indent="0">
              <a:lnSpc>
                <a:spcPct val="150000"/>
              </a:lnSpc>
              <a:buNone/>
            </a:pPr>
            <a:r>
              <a:rPr lang="zh-CN" altLang="en-US" sz="2400" b="1"/>
              <a:t>柯克霍夫原则：加密算法应建立在算法的公开不影响明文和密钥的安全，即密码算法的，安全性仅依赖于对密钥的保密。 </a:t>
            </a:r>
            <a:endParaRPr lang="zh-CN" altLang="en-US" sz="2400" b="1"/>
          </a:p>
          <a:p>
            <a:pPr indent="0">
              <a:lnSpc>
                <a:spcPct val="150000"/>
              </a:lnSpc>
              <a:buNone/>
            </a:pPr>
            <a:r>
              <a:rPr lang="zh-CN" altLang="en-US" sz="2400"/>
              <a:t>这一原则已得到普遍承认，成为判定密码强度的衡量标准，也成为古典</a:t>
            </a:r>
            <a:endParaRPr lang="zh-CN" altLang="en-US" sz="2400"/>
          </a:p>
          <a:p>
            <a:pPr indent="0">
              <a:lnSpc>
                <a:spcPct val="150000"/>
              </a:lnSpc>
              <a:buNone/>
            </a:pPr>
            <a:r>
              <a:rPr lang="zh-CN" altLang="en-US" sz="2400"/>
              <a:t>密码和现代密码的分界线之一。</a:t>
            </a:r>
            <a:endParaRPr lang="zh-CN" altLang="en-US" sz="2400"/>
          </a:p>
        </p:txBody>
      </p:sp>
      <mc:AlternateContent xmlns:mc="http://schemas.openxmlformats.org/markup-compatibility/2006">
        <mc:Choice xmlns:a14="http://schemas.microsoft.com/office/drawing/2010/main" Requires="a14">
          <p:sp>
            <p:nvSpPr>
              <p:cNvPr id="6" name="文本框 5"/>
              <p:cNvSpPr txBox="1"/>
              <p:nvPr/>
            </p:nvSpPr>
            <p:spPr>
              <a:xfrm>
                <a:off x="3190176" y="5126291"/>
                <a:ext cx="131381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𝐸</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190176" y="5126291"/>
                <a:ext cx="1313815" cy="368300"/>
              </a:xfrm>
              <a:prstGeom prst="rect">
                <a:avLst/>
              </a:prstGeom>
              <a:blipFill rotWithShape="1">
                <a:blip r:embed="rId1"/>
                <a:stretch>
                  <a:fillRect l="-43" t="-155" r="-682" b="1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494716" y="5126291"/>
                <a:ext cx="133540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6494716" y="5126291"/>
                <a:ext cx="1335405" cy="368300"/>
              </a:xfrm>
              <a:prstGeom prst="rect">
                <a:avLst/>
              </a:prstGeom>
              <a:blipFill rotWithShape="1">
                <a:blip r:embed="rId2"/>
                <a:stretch>
                  <a:fillRect l="-43" t="-155" r="-433" b="15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bldLst>
      <p:bldP spid="6" grpId="1"/>
      <p:bldP spid="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a:sym typeface="+mn-ea"/>
              </a:rPr>
              <a:t>如何解决所面临的</a:t>
            </a:r>
            <a:r>
              <a:rPr sz="3600" spc="300">
                <a:sym typeface="+mn-ea"/>
              </a:rPr>
              <a:t>威胁</a:t>
            </a:r>
            <a:endParaRPr sz="3600" spc="300">
              <a:sym typeface="+mn-ea"/>
            </a:endParaRPr>
          </a:p>
        </p:txBody>
      </p:sp>
      <p:pic>
        <p:nvPicPr>
          <p:cNvPr id="2" name="图片 1" descr="信息安全的威胁和应对的密码技术"/>
          <p:cNvPicPr>
            <a:picLocks noChangeAspect="1"/>
          </p:cNvPicPr>
          <p:nvPr/>
        </p:nvPicPr>
        <p:blipFill>
          <a:blip r:embed="rId1">
            <a:lum contrast="12000"/>
          </a:blip>
          <a:stretch>
            <a:fillRect/>
          </a:stretch>
        </p:blipFill>
        <p:spPr>
          <a:xfrm>
            <a:off x="2687320" y="1204595"/>
            <a:ext cx="6724650" cy="5121910"/>
          </a:xfrm>
          <a:prstGeom prst="rect">
            <a:avLst/>
          </a:prstGeom>
          <a:ln>
            <a:solidFill>
              <a:schemeClr val="bg1"/>
            </a:solid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222" y="-20958"/>
            <a:ext cx="12192000" cy="68789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nvGrpSpPr>
          <p:cNvPr id="8" name="Group 7"/>
          <p:cNvGrpSpPr/>
          <p:nvPr/>
        </p:nvGrpSpPr>
        <p:grpSpPr>
          <a:xfrm>
            <a:off x="6561054" y="3212533"/>
            <a:ext cx="5630946" cy="1066410"/>
            <a:chOff x="6561054" y="3212533"/>
            <a:chExt cx="5630946" cy="1066410"/>
          </a:xfrm>
        </p:grpSpPr>
        <p:sp>
          <p:nvSpPr>
            <p:cNvPr id="25" name="文本框 10"/>
            <p:cNvSpPr txBox="1"/>
            <p:nvPr/>
          </p:nvSpPr>
          <p:spPr>
            <a:xfrm>
              <a:off x="6692928" y="3212533"/>
              <a:ext cx="5367198" cy="645160"/>
            </a:xfrm>
            <a:prstGeom prst="rect">
              <a:avLst/>
            </a:prstGeom>
            <a:noFill/>
          </p:spPr>
          <p:txBody>
            <a:bodyPr wrap="square" rtlCol="0">
              <a:spAutoFit/>
              <a:scene3d>
                <a:camera prst="orthographicFront"/>
                <a:lightRig rig="threePt" dir="t"/>
              </a:scene3d>
              <a:sp3d contourW="12700"/>
            </a:bodyPr>
            <a:lstStyle/>
            <a:p>
              <a:r>
                <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对称</a:t>
              </a:r>
              <a:r>
                <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密码</a:t>
              </a:r>
              <a:endPar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4" name="直接连接符 3"/>
            <p:cNvCxnSpPr/>
            <p:nvPr/>
          </p:nvCxnSpPr>
          <p:spPr>
            <a:xfrm>
              <a:off x="6561054" y="4278943"/>
              <a:ext cx="5630946" cy="0"/>
            </a:xfrm>
            <a:prstGeom prst="line">
              <a:avLst/>
            </a:prstGeom>
            <a:ln w="28575">
              <a:solidFill>
                <a:srgbClr val="FF4506"/>
              </a:solidFill>
            </a:ln>
          </p:spPr>
          <p:style>
            <a:lnRef idx="1">
              <a:schemeClr val="accent2"/>
            </a:lnRef>
            <a:fillRef idx="0">
              <a:schemeClr val="accent2"/>
            </a:fillRef>
            <a:effectRef idx="0">
              <a:schemeClr val="accent2"/>
            </a:effectRef>
            <a:fontRef idx="minor">
              <a:schemeClr val="tx1"/>
            </a:fontRef>
          </p:style>
        </p:cxnSp>
      </p:grpSp>
      <p:grpSp>
        <p:nvGrpSpPr>
          <p:cNvPr id="7" name="Group 6"/>
          <p:cNvGrpSpPr/>
          <p:nvPr/>
        </p:nvGrpSpPr>
        <p:grpSpPr>
          <a:xfrm>
            <a:off x="0" y="1848067"/>
            <a:ext cx="6479357" cy="3301450"/>
            <a:chOff x="0" y="1848066"/>
            <a:chExt cx="6980338" cy="3556905"/>
          </a:xfrm>
        </p:grpSpPr>
        <p:sp>
          <p:nvSpPr>
            <p:cNvPr id="14" name="矩形 13"/>
            <p:cNvSpPr/>
            <p:nvPr/>
          </p:nvSpPr>
          <p:spPr>
            <a:xfrm>
              <a:off x="0" y="2498170"/>
              <a:ext cx="5055800" cy="216262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pic>
          <p:nvPicPr>
            <p:cNvPr id="3075" name="Picture 3" descr="C:\Users\laitianyue\Desktop\封面 [已恢复]-14.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51063" y="1848066"/>
              <a:ext cx="3663778" cy="3556905"/>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组合 16"/>
            <p:cNvGrpSpPr/>
            <p:nvPr/>
          </p:nvGrpSpPr>
          <p:grpSpPr>
            <a:xfrm>
              <a:off x="3802453" y="2246862"/>
              <a:ext cx="2919338" cy="3115390"/>
              <a:chOff x="4462366" y="690753"/>
              <a:chExt cx="3701356" cy="3949926"/>
            </a:xfrm>
          </p:grpSpPr>
          <p:pic>
            <p:nvPicPr>
              <p:cNvPr id="18" name="图片 17"/>
              <p:cNvPicPr>
                <a:picLocks noChangeAspect="1"/>
              </p:cNvPicPr>
              <p:nvPr/>
            </p:nvPicPr>
            <p:blipFill>
              <a:blip r:embed="rId2"/>
              <a:stretch>
                <a:fillRect/>
              </a:stretch>
            </p:blipFill>
            <p:spPr>
              <a:xfrm>
                <a:off x="4537316" y="690753"/>
                <a:ext cx="3028276" cy="3949926"/>
              </a:xfrm>
              <a:prstGeom prst="rect">
                <a:avLst/>
              </a:prstGeom>
            </p:spPr>
          </p:pic>
          <p:sp>
            <p:nvSpPr>
              <p:cNvPr id="19" name="文本框 18"/>
              <p:cNvSpPr txBox="1"/>
              <p:nvPr/>
            </p:nvSpPr>
            <p:spPr>
              <a:xfrm>
                <a:off x="4462366" y="2611554"/>
                <a:ext cx="1975700" cy="753269"/>
              </a:xfrm>
              <a:prstGeom prst="rect">
                <a:avLst/>
              </a:prstGeom>
              <a:noFill/>
              <a:scene3d>
                <a:camera prst="perspectiveHeroicExtremeLeftFacing" fov="2700000">
                  <a:rot lat="2400000" lon="2400000" rev="21594000"/>
                </a:camera>
                <a:lightRig rig="threePt" dir="t"/>
              </a:scene3d>
            </p:spPr>
            <p:txBody>
              <a:bodyPr wrap="square" rtlCol="0">
                <a:spAutoFit/>
              </a:bodyPr>
              <a:lstStyle/>
              <a:p>
                <a:pPr algn="ctr"/>
                <a:r>
                  <a:rPr kumimoji="1" lang="en-US" altLang="zh-CN" sz="3200" b="1" dirty="0">
                    <a:solidFill>
                      <a:schemeClr val="bg1"/>
                    </a:solidFill>
                    <a:latin typeface="微软雅黑" panose="020B0503020204020204" pitchFamily="34" charset="-122"/>
                    <a:ea typeface="微软雅黑" panose="020B0503020204020204" pitchFamily="34" charset="-122"/>
                  </a:rPr>
                  <a:t>PART</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904339" y="2189557"/>
                <a:ext cx="2259383" cy="1133688"/>
              </a:xfrm>
              <a:prstGeom prst="rect">
                <a:avLst/>
              </a:prstGeom>
              <a:noFill/>
              <a:scene3d>
                <a:camera prst="isometricOffAxis1Right">
                  <a:rot lat="1800000" lon="18600000" rev="0"/>
                </a:camera>
                <a:lightRig rig="threePt" dir="t"/>
              </a:scene3d>
            </p:spPr>
            <p:txBody>
              <a:bodyPr wrap="square" rtlCol="0">
                <a:spAutoFit/>
              </a:bodyPr>
              <a:lstStyle/>
              <a:p>
                <a:pPr algn="ctr"/>
                <a:r>
                  <a:rPr kumimoji="1" lang="zh-CN" altLang="en-US" sz="4800" b="1" dirty="0">
                    <a:solidFill>
                      <a:schemeClr val="bg1"/>
                    </a:solidFill>
                    <a:latin typeface="微软雅黑" panose="020B0503020204020204" pitchFamily="34" charset="-122"/>
                    <a:ea typeface="微软雅黑" panose="020B0503020204020204" pitchFamily="34" charset="-122"/>
                  </a:rPr>
                  <a:t>二</a:t>
                </a:r>
                <a:endParaRPr kumimoji="1"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3" name="等腰三角形 2"/>
            <p:cNvSpPr/>
            <p:nvPr/>
          </p:nvSpPr>
          <p:spPr>
            <a:xfrm rot="5400000">
              <a:off x="6538505" y="3461729"/>
              <a:ext cx="474562" cy="409105"/>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500" fill="hold"/>
                                        <p:tgtEl>
                                          <p:spTgt spid="8"/>
                                        </p:tgtEl>
                                        <p:attrNameLst>
                                          <p:attrName>ppt_x</p:attrName>
                                        </p:attrNameLst>
                                      </p:cBhvr>
                                      <p:tavLst>
                                        <p:tav tm="0">
                                          <p:val>
                                            <p:strVal val="#ppt_x"/>
                                          </p:val>
                                        </p:tav>
                                        <p:tav tm="100000">
                                          <p:val>
                                            <p:strVal val="#ppt_x"/>
                                          </p:val>
                                        </p:tav>
                                      </p:tavLst>
                                    </p:anim>
                                    <p:anim calcmode="lin" valueType="num">
                                      <p:cBhvr additive="base">
                                        <p:cTn id="12" dur="1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a:sym typeface="+mn-ea"/>
              </a:rPr>
              <a:t>DES（Data Encryption Standard）</a:t>
            </a:r>
            <a:endParaRPr lang="zh-CN" altLang="en-US" sz="3600" dirty="0"/>
          </a:p>
        </p:txBody>
      </p:sp>
      <p:sp>
        <p:nvSpPr>
          <p:cNvPr id="5" name="文本框 4"/>
          <p:cNvSpPr txBox="1"/>
          <p:nvPr/>
        </p:nvSpPr>
        <p:spPr>
          <a:xfrm>
            <a:off x="947420" y="1333500"/>
            <a:ext cx="10296525" cy="3415030"/>
          </a:xfrm>
          <a:prstGeom prst="rect">
            <a:avLst/>
          </a:prstGeom>
          <a:noFill/>
        </p:spPr>
        <p:txBody>
          <a:bodyPr wrap="square" rtlCol="0">
            <a:spAutoFit/>
          </a:bodyPr>
          <a:p>
            <a:pPr indent="0">
              <a:lnSpc>
                <a:spcPct val="150000"/>
              </a:lnSpc>
              <a:buNone/>
            </a:pPr>
            <a:r>
              <a:rPr lang="en-US" altLang="zh-CN" sz="2400"/>
              <a:t>DES（Data Encryption Standard）</a:t>
            </a:r>
            <a:endParaRPr lang="en-US" altLang="zh-CN" sz="2400"/>
          </a:p>
          <a:p>
            <a:pPr indent="0">
              <a:lnSpc>
                <a:spcPct val="150000"/>
              </a:lnSpc>
              <a:buNone/>
            </a:pPr>
            <a:r>
              <a:rPr lang="en-US" altLang="zh-CN" sz="2400">
                <a:ea typeface="+mn-lt"/>
                <a:cs typeface="+mn-lt"/>
              </a:rPr>
              <a:t>1977年得到美国政府的正式许可，是</a:t>
            </a:r>
            <a:r>
              <a:rPr lang="en-US" altLang="zh-CN" sz="2400">
                <a:ea typeface="+mn-lt"/>
                <a:cs typeface="+mn-lt"/>
                <a:sym typeface="+mn-ea"/>
              </a:rPr>
              <a:t>IBM研究</a:t>
            </a:r>
            <a:r>
              <a:rPr lang="zh-CN" altLang="en-US" sz="2400">
                <a:ea typeface="+mn-lt"/>
                <a:cs typeface="+mn-lt"/>
                <a:sym typeface="+mn-ea"/>
              </a:rPr>
              <a:t>出的一种</a:t>
            </a:r>
            <a:r>
              <a:rPr lang="en-US" altLang="zh-CN" sz="2400">
                <a:ea typeface="+mn-lt"/>
                <a:cs typeface="+mn-lt"/>
                <a:sym typeface="+mn-ea"/>
              </a:rPr>
              <a:t>被世界公认</a:t>
            </a:r>
            <a:r>
              <a:rPr lang="zh-CN" altLang="en-US" sz="2400">
                <a:ea typeface="+mn-lt"/>
                <a:cs typeface="+mn-lt"/>
                <a:sym typeface="+mn-ea"/>
              </a:rPr>
              <a:t>，广为流传的一种分组</a:t>
            </a:r>
            <a:r>
              <a:rPr lang="zh-CN" altLang="en-US" sz="2400">
                <a:ea typeface="+mn-lt"/>
                <a:cs typeface="+mn-lt"/>
                <a:sym typeface="+mn-ea"/>
              </a:rPr>
              <a:t>密码算法，</a:t>
            </a:r>
            <a:r>
              <a:rPr lang="en-US" altLang="zh-CN" sz="2400">
                <a:ea typeface="+mn-lt"/>
                <a:cs typeface="+mn-lt"/>
              </a:rPr>
              <a:t>公开、细节</a:t>
            </a:r>
            <a:r>
              <a:rPr lang="zh-CN" altLang="en-US" sz="2400">
                <a:ea typeface="+mn-lt"/>
                <a:cs typeface="+mn-lt"/>
              </a:rPr>
              <a:t>透明。对推动密码理论的发展起到了重大作用。</a:t>
            </a:r>
            <a:endParaRPr lang="en-US" altLang="zh-CN" sz="2400">
              <a:ea typeface="+mn-lt"/>
              <a:cs typeface="+mn-lt"/>
            </a:endParaRPr>
          </a:p>
          <a:p>
            <a:pPr marL="457200" indent="-457200">
              <a:lnSpc>
                <a:spcPct val="150000"/>
              </a:lnSpc>
              <a:buAutoNum type="arabicPeriod"/>
            </a:pPr>
            <a:r>
              <a:rPr lang="en-US" altLang="zh-CN" sz="2400">
                <a:ea typeface="+mn-lt"/>
                <a:cs typeface="+mn-lt"/>
              </a:rPr>
              <a:t>分组长度为64 </a:t>
            </a:r>
            <a:r>
              <a:rPr lang="zh-CN" altLang="en-US" sz="2400">
                <a:ea typeface="+mn-lt"/>
                <a:cs typeface="+mn-lt"/>
              </a:rPr>
              <a:t>比特。</a:t>
            </a:r>
            <a:endParaRPr lang="en-US" altLang="zh-CN" sz="2400">
              <a:ea typeface="+mn-lt"/>
              <a:cs typeface="+mn-lt"/>
            </a:endParaRPr>
          </a:p>
          <a:p>
            <a:pPr marL="457200" indent="-457200">
              <a:lnSpc>
                <a:spcPct val="150000"/>
              </a:lnSpc>
              <a:buAutoNum type="arabicPeriod"/>
            </a:pPr>
            <a:r>
              <a:rPr lang="zh-CN" altLang="en-US" sz="2400">
                <a:ea typeface="+mn-lt"/>
                <a:cs typeface="+mn-lt"/>
                <a:sym typeface="+mn-ea"/>
              </a:rPr>
              <a:t>密钥长</a:t>
            </a:r>
            <a:r>
              <a:rPr lang="en-US" altLang="zh-CN" sz="2400">
                <a:ea typeface="+mn-lt"/>
                <a:cs typeface="+mn-lt"/>
                <a:sym typeface="+mn-ea"/>
              </a:rPr>
              <a:t>56</a:t>
            </a:r>
            <a:r>
              <a:rPr lang="zh-CN" altLang="en-US" sz="2400">
                <a:ea typeface="+mn-lt"/>
                <a:cs typeface="+mn-lt"/>
                <a:sym typeface="+mn-ea"/>
              </a:rPr>
              <a:t>比特</a:t>
            </a:r>
            <a:r>
              <a:rPr lang="en-US" altLang="zh-CN" sz="2400">
                <a:ea typeface="+mn-lt"/>
                <a:cs typeface="+mn-lt"/>
                <a:sym typeface="+mn-ea"/>
              </a:rPr>
              <a:t>。</a:t>
            </a:r>
            <a:endParaRPr lang="en-US" altLang="zh-CN" sz="2000">
              <a:ea typeface="+mn-lt"/>
              <a:cs typeface="+mn-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a:latin typeface="等线" panose="02010600030101010101" charset="-122"/>
                <a:ea typeface="等线" panose="02010600030101010101" charset="-122"/>
                <a:cs typeface="等线" panose="02010600030101010101" charset="-122"/>
                <a:sym typeface="+mn-ea"/>
              </a:rPr>
              <a:t>DES C#</a:t>
            </a:r>
            <a:r>
              <a:rPr sz="3600">
                <a:latin typeface="等线" panose="02010600030101010101" charset="-122"/>
                <a:ea typeface="等线" panose="02010600030101010101" charset="-122"/>
                <a:cs typeface="等线" panose="02010600030101010101" charset="-122"/>
                <a:sym typeface="+mn-ea"/>
              </a:rPr>
              <a:t>代码实现</a:t>
            </a:r>
            <a:endParaRPr lang="zh-CN" altLang="en-US" sz="3600" dirty="0"/>
          </a:p>
        </p:txBody>
      </p:sp>
      <p:pic>
        <p:nvPicPr>
          <p:cNvPr id="7" name="图片 6"/>
          <p:cNvPicPr>
            <a:picLocks noChangeAspect="1"/>
          </p:cNvPicPr>
          <p:nvPr/>
        </p:nvPicPr>
        <p:blipFill>
          <a:blip r:embed="rId1"/>
          <a:stretch>
            <a:fillRect/>
          </a:stretch>
        </p:blipFill>
        <p:spPr>
          <a:xfrm>
            <a:off x="1178560" y="1667510"/>
            <a:ext cx="6227445" cy="1845310"/>
          </a:xfrm>
          <a:prstGeom prst="rect">
            <a:avLst/>
          </a:prstGeom>
        </p:spPr>
      </p:pic>
      <p:pic>
        <p:nvPicPr>
          <p:cNvPr id="8" name="图片 7"/>
          <p:cNvPicPr>
            <a:picLocks noChangeAspect="1"/>
          </p:cNvPicPr>
          <p:nvPr/>
        </p:nvPicPr>
        <p:blipFill>
          <a:blip r:embed="rId2"/>
          <a:stretch>
            <a:fillRect/>
          </a:stretch>
        </p:blipFill>
        <p:spPr>
          <a:xfrm>
            <a:off x="1178560" y="4169410"/>
            <a:ext cx="6227445" cy="1893570"/>
          </a:xfrm>
          <a:prstGeom prst="rect">
            <a:avLst/>
          </a:prstGeom>
        </p:spPr>
      </p:pic>
      <p:sp>
        <p:nvSpPr>
          <p:cNvPr id="9" name="文本框 8"/>
          <p:cNvSpPr txBox="1"/>
          <p:nvPr/>
        </p:nvSpPr>
        <p:spPr>
          <a:xfrm>
            <a:off x="8122920" y="2557780"/>
            <a:ext cx="3808095" cy="2861310"/>
          </a:xfrm>
          <a:prstGeom prst="rect">
            <a:avLst/>
          </a:prstGeom>
          <a:noFill/>
        </p:spPr>
        <p:txBody>
          <a:bodyPr wrap="square" rtlCol="0">
            <a:spAutoFit/>
          </a:bodyPr>
          <a:p>
            <a:r>
              <a:rPr lang="zh-CN" altLang="en-US"/>
              <a:t>D+mSHZx2nuAEcgxwKtlhtQZAoQiXIYJ2uQCy0sqjIckyDjlAWQkEjj9qTv6D2NuDW3uoxv5cqGuoQXcKl7yj710HbnLmrWip5zynvmSVDPD5h0NLsxUX0bQwVwtzmk3PJdvyYQAIs3I0C4rVbmO17duoEWBwHZN6BxVw+RGQvAmWVyfoRJlprSNaXSuHrJ2MFWnX0QcYdr8zgi6VHZyXb8s8jFXnmVBCF+bGYek+A6sDqNPz0vsCx/iLM6W9DQoT</a:t>
            </a:r>
            <a:endParaRPr lang="zh-CN" altLang="en-US"/>
          </a:p>
        </p:txBody>
      </p:sp>
      <p:sp>
        <p:nvSpPr>
          <p:cNvPr id="11" name="文本框 10"/>
          <p:cNvSpPr txBox="1"/>
          <p:nvPr/>
        </p:nvSpPr>
        <p:spPr>
          <a:xfrm>
            <a:off x="9658350" y="5787390"/>
            <a:ext cx="2272665" cy="275590"/>
          </a:xfrm>
          <a:prstGeom prst="rect">
            <a:avLst/>
          </a:prstGeom>
          <a:noFill/>
        </p:spPr>
        <p:txBody>
          <a:bodyPr wrap="square" rtlCol="0">
            <a:spAutoFit/>
          </a:bodyPr>
          <a:p>
            <a:pPr algn="r"/>
            <a:r>
              <a:rPr lang="en-US" altLang="zh-CN" sz="1200">
                <a:latin typeface="等线" panose="02010600030101010101" charset="-122"/>
                <a:ea typeface="等线" panose="02010600030101010101" charset="-122"/>
                <a:cs typeface="等线" panose="02010600030101010101" charset="-122"/>
              </a:rPr>
              <a:t>key</a:t>
            </a:r>
            <a:r>
              <a:rPr lang="zh-CN" altLang="en-US" sz="1200">
                <a:latin typeface="等线" panose="02010600030101010101" charset="-122"/>
                <a:ea typeface="等线" panose="02010600030101010101" charset="-122"/>
                <a:cs typeface="等线" panose="02010600030101010101" charset="-122"/>
              </a:rPr>
              <a:t>：fineex12</a:t>
            </a:r>
            <a:endParaRPr lang="zh-CN" altLang="en-US" sz="1200">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a:sym typeface="+mn-ea"/>
              </a:rPr>
              <a:t>AES（</a:t>
            </a:r>
            <a:r>
              <a:rPr sz="3600">
                <a:sym typeface="+mn-ea"/>
              </a:rPr>
              <a:t>Advanced Encryption Standard</a:t>
            </a:r>
            <a:r>
              <a:rPr lang="en-US" altLang="zh-CN" sz="3600">
                <a:sym typeface="+mn-ea"/>
              </a:rPr>
              <a:t>）</a:t>
            </a:r>
            <a:endParaRPr lang="zh-CN" altLang="en-US" sz="3600" dirty="0"/>
          </a:p>
        </p:txBody>
      </p:sp>
      <p:sp>
        <p:nvSpPr>
          <p:cNvPr id="5" name="文本框 4"/>
          <p:cNvSpPr txBox="1"/>
          <p:nvPr/>
        </p:nvSpPr>
        <p:spPr>
          <a:xfrm>
            <a:off x="947420" y="1323975"/>
            <a:ext cx="10296525" cy="3969385"/>
          </a:xfrm>
          <a:prstGeom prst="rect">
            <a:avLst/>
          </a:prstGeom>
          <a:noFill/>
        </p:spPr>
        <p:txBody>
          <a:bodyPr wrap="square" rtlCol="0">
            <a:spAutoFit/>
          </a:bodyPr>
          <a:p>
            <a:pPr indent="0">
              <a:lnSpc>
                <a:spcPct val="150000"/>
              </a:lnSpc>
              <a:buNone/>
            </a:pPr>
            <a:r>
              <a:rPr lang="en-US" altLang="zh-CN" sz="2400">
                <a:sym typeface="+mn-ea"/>
              </a:rPr>
              <a:t>AES（</a:t>
            </a:r>
            <a:r>
              <a:rPr lang="zh-CN" altLang="en-US" sz="2400">
                <a:sym typeface="+mn-ea"/>
              </a:rPr>
              <a:t>Advanced Encryption Standard</a:t>
            </a:r>
            <a:r>
              <a:rPr lang="en-US" altLang="zh-CN" sz="2400">
                <a:sym typeface="+mn-ea"/>
              </a:rPr>
              <a:t>）</a:t>
            </a:r>
            <a:endParaRPr lang="en-US" altLang="zh-CN" sz="2400">
              <a:sym typeface="+mn-ea"/>
            </a:endParaRPr>
          </a:p>
          <a:p>
            <a:pPr indent="0">
              <a:lnSpc>
                <a:spcPct val="150000"/>
              </a:lnSpc>
              <a:buNone/>
            </a:pPr>
            <a:r>
              <a:rPr lang="zh-CN" altLang="en-US" sz="2400"/>
              <a:t>DES算法由于其密钥较短，难以抵抗现有的攻击，因此不再作为加密标准。1997年1月，美国NIST向全世界密码学界发出征集21世纪</a:t>
            </a:r>
            <a:r>
              <a:rPr lang="zh-CN" altLang="en-US" sz="2400"/>
              <a:t>高级加密标准，并成立了AES标准工作研究室。</a:t>
            </a:r>
            <a:endParaRPr lang="zh-CN" altLang="en-US" sz="2400"/>
          </a:p>
          <a:p>
            <a:pPr indent="0">
              <a:lnSpc>
                <a:spcPct val="150000"/>
              </a:lnSpc>
              <a:buNone/>
            </a:pPr>
            <a:r>
              <a:rPr lang="zh-CN" altLang="en-US" sz="2400"/>
              <a:t>2000年10月2日，NIST宣布Rijndael作为新的AES。</a:t>
            </a:r>
            <a:endParaRPr lang="zh-CN" altLang="en-US" sz="2400"/>
          </a:p>
          <a:p>
            <a:pPr marL="457200" indent="-457200">
              <a:lnSpc>
                <a:spcPct val="150000"/>
              </a:lnSpc>
              <a:buAutoNum type="arabicPeriod"/>
            </a:pPr>
            <a:r>
              <a:rPr lang="en-US" altLang="zh-CN" sz="2400"/>
              <a:t>明文分组可变，128、192、256比特</a:t>
            </a:r>
            <a:r>
              <a:rPr lang="zh-CN" altLang="en-US" sz="2400"/>
              <a:t>。</a:t>
            </a:r>
            <a:endParaRPr lang="en-US" altLang="zh-CN" sz="2400"/>
          </a:p>
          <a:p>
            <a:pPr marL="457200" indent="-457200">
              <a:lnSpc>
                <a:spcPct val="150000"/>
              </a:lnSpc>
              <a:buAutoNum type="arabicPeriod"/>
            </a:pPr>
            <a:r>
              <a:rPr lang="en-US" altLang="zh-CN" sz="2400">
                <a:sym typeface="+mn-ea"/>
              </a:rPr>
              <a:t>密钥长度可变，各自可独立指定为128、192、256比特。</a:t>
            </a:r>
            <a:endParaRPr lang="en-US" altLang="zh-CN" sz="24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a:latin typeface="等线" panose="02010600030101010101" charset="-122"/>
                <a:ea typeface="等线" panose="02010600030101010101" charset="-122"/>
                <a:cs typeface="等线" panose="02010600030101010101" charset="-122"/>
                <a:sym typeface="+mn-ea"/>
              </a:rPr>
              <a:t>AES C#</a:t>
            </a:r>
            <a:r>
              <a:rPr sz="3600">
                <a:latin typeface="等线" panose="02010600030101010101" charset="-122"/>
                <a:ea typeface="等线" panose="02010600030101010101" charset="-122"/>
                <a:cs typeface="等线" panose="02010600030101010101" charset="-122"/>
                <a:sym typeface="+mn-ea"/>
              </a:rPr>
              <a:t>代码实现</a:t>
            </a:r>
            <a:endParaRPr lang="zh-CN" altLang="en-US" sz="3600" dirty="0"/>
          </a:p>
        </p:txBody>
      </p:sp>
      <p:sp>
        <p:nvSpPr>
          <p:cNvPr id="9" name="文本框 8"/>
          <p:cNvSpPr txBox="1"/>
          <p:nvPr/>
        </p:nvSpPr>
        <p:spPr>
          <a:xfrm>
            <a:off x="8122920" y="2071370"/>
            <a:ext cx="3808095" cy="2584450"/>
          </a:xfrm>
          <a:prstGeom prst="rect">
            <a:avLst/>
          </a:prstGeom>
          <a:noFill/>
        </p:spPr>
        <p:txBody>
          <a:bodyPr wrap="square" rtlCol="0">
            <a:spAutoFit/>
          </a:bodyPr>
          <a:p>
            <a:r>
              <a:rPr lang="zh-CN" altLang="en-US"/>
              <a:t>L52e9m93/e0Lgc/5rEa5pwI0xCoSUihQIXoOyxmEcGVGf7lJJCXuAHQBbqe77oTdSLUW40J1wQrFIQbPvA7zq1+UsRCHWRL6jMe/kAajlbFrMxLAgTbrlVdW5pIa/1bphIsvAuA6zl9bJCtbB+h8TMoxpHIhNtfuuc8kX6uxMOogIsTQ8tgtfLRkFBzHyWd0OyJiQobtKES+owAPDPWBweRPObq5YQK/Dq0jK1fd7qlowJt8HyVWLi1E7wEfYNRY</a:t>
            </a:r>
            <a:endParaRPr lang="zh-CN" altLang="en-US"/>
          </a:p>
        </p:txBody>
      </p:sp>
      <p:pic>
        <p:nvPicPr>
          <p:cNvPr id="2" name="图片 1"/>
          <p:cNvPicPr>
            <a:picLocks noChangeAspect="1"/>
          </p:cNvPicPr>
          <p:nvPr/>
        </p:nvPicPr>
        <p:blipFill>
          <a:blip r:embed="rId1"/>
          <a:stretch>
            <a:fillRect/>
          </a:stretch>
        </p:blipFill>
        <p:spPr>
          <a:xfrm>
            <a:off x="836930" y="1598295"/>
            <a:ext cx="6591300" cy="1833245"/>
          </a:xfrm>
          <a:prstGeom prst="rect">
            <a:avLst/>
          </a:prstGeom>
        </p:spPr>
      </p:pic>
      <p:pic>
        <p:nvPicPr>
          <p:cNvPr id="4" name="图片 3"/>
          <p:cNvPicPr>
            <a:picLocks noChangeAspect="1"/>
          </p:cNvPicPr>
          <p:nvPr/>
        </p:nvPicPr>
        <p:blipFill>
          <a:blip r:embed="rId2"/>
          <a:stretch>
            <a:fillRect/>
          </a:stretch>
        </p:blipFill>
        <p:spPr>
          <a:xfrm>
            <a:off x="836930" y="4018915"/>
            <a:ext cx="6591935" cy="1908175"/>
          </a:xfrm>
          <a:prstGeom prst="rect">
            <a:avLst/>
          </a:prstGeom>
        </p:spPr>
      </p:pic>
      <p:sp>
        <p:nvSpPr>
          <p:cNvPr id="5" name="文本框 4"/>
          <p:cNvSpPr txBox="1"/>
          <p:nvPr/>
        </p:nvSpPr>
        <p:spPr>
          <a:xfrm>
            <a:off x="9658350" y="5716270"/>
            <a:ext cx="2272665" cy="275590"/>
          </a:xfrm>
          <a:prstGeom prst="rect">
            <a:avLst/>
          </a:prstGeom>
          <a:noFill/>
        </p:spPr>
        <p:txBody>
          <a:bodyPr wrap="square" rtlCol="0">
            <a:spAutoFit/>
          </a:bodyPr>
          <a:p>
            <a:pPr algn="r"/>
            <a:r>
              <a:rPr lang="en-US" altLang="zh-CN" sz="1200">
                <a:latin typeface="等线" panose="02010600030101010101" charset="-122"/>
                <a:ea typeface="等线" panose="02010600030101010101" charset="-122"/>
                <a:cs typeface="等线" panose="02010600030101010101" charset="-122"/>
              </a:rPr>
              <a:t>key</a:t>
            </a:r>
            <a:r>
              <a:rPr lang="zh-CN" altLang="en-US" sz="1200">
                <a:latin typeface="等线" panose="02010600030101010101" charset="-122"/>
                <a:ea typeface="等线" panose="02010600030101010101" charset="-122"/>
                <a:cs typeface="等线" panose="02010600030101010101" charset="-122"/>
              </a:rPr>
              <a:t>：fineexfineex1234</a:t>
            </a:r>
            <a:endParaRPr lang="zh-CN" altLang="en-US" sz="1200">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697" y="-20958"/>
            <a:ext cx="12192000" cy="68789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nvGrpSpPr>
          <p:cNvPr id="8" name="Group 7"/>
          <p:cNvGrpSpPr/>
          <p:nvPr/>
        </p:nvGrpSpPr>
        <p:grpSpPr>
          <a:xfrm>
            <a:off x="6561054" y="3213168"/>
            <a:ext cx="5630946" cy="1065775"/>
            <a:chOff x="6561054" y="3213168"/>
            <a:chExt cx="5630946" cy="1065775"/>
          </a:xfrm>
        </p:grpSpPr>
        <p:sp>
          <p:nvSpPr>
            <p:cNvPr id="25" name="文本框 10"/>
            <p:cNvSpPr txBox="1"/>
            <p:nvPr/>
          </p:nvSpPr>
          <p:spPr>
            <a:xfrm>
              <a:off x="6717693" y="3213168"/>
              <a:ext cx="5367198" cy="645160"/>
            </a:xfrm>
            <a:prstGeom prst="rect">
              <a:avLst/>
            </a:prstGeom>
            <a:noFill/>
          </p:spPr>
          <p:txBody>
            <a:bodyPr wrap="square" rtlCol="0">
              <a:spAutoFit/>
              <a:scene3d>
                <a:camera prst="orthographicFront"/>
                <a:lightRig rig="threePt" dir="t"/>
              </a:scene3d>
              <a:sp3d contourW="12700"/>
            </a:bodyPr>
            <a:lstStyle/>
            <a:p>
              <a:r>
                <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非对称</a:t>
              </a:r>
              <a:r>
                <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密码</a:t>
              </a:r>
              <a:endPar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4" name="直接连接符 3"/>
            <p:cNvCxnSpPr/>
            <p:nvPr/>
          </p:nvCxnSpPr>
          <p:spPr>
            <a:xfrm>
              <a:off x="6561054" y="4278943"/>
              <a:ext cx="5630946" cy="0"/>
            </a:xfrm>
            <a:prstGeom prst="line">
              <a:avLst/>
            </a:prstGeom>
            <a:ln w="28575">
              <a:solidFill>
                <a:srgbClr val="FF4506"/>
              </a:solidFill>
            </a:ln>
          </p:spPr>
          <p:style>
            <a:lnRef idx="1">
              <a:schemeClr val="accent2"/>
            </a:lnRef>
            <a:fillRef idx="0">
              <a:schemeClr val="accent2"/>
            </a:fillRef>
            <a:effectRef idx="0">
              <a:schemeClr val="accent2"/>
            </a:effectRef>
            <a:fontRef idx="minor">
              <a:schemeClr val="tx1"/>
            </a:fontRef>
          </p:style>
        </p:cxnSp>
      </p:grpSp>
      <p:grpSp>
        <p:nvGrpSpPr>
          <p:cNvPr id="7" name="Group 6"/>
          <p:cNvGrpSpPr/>
          <p:nvPr/>
        </p:nvGrpSpPr>
        <p:grpSpPr>
          <a:xfrm>
            <a:off x="0" y="1848067"/>
            <a:ext cx="6479357" cy="3301450"/>
            <a:chOff x="0" y="1848066"/>
            <a:chExt cx="6980338" cy="3556905"/>
          </a:xfrm>
        </p:grpSpPr>
        <p:sp>
          <p:nvSpPr>
            <p:cNvPr id="14" name="矩形 13"/>
            <p:cNvSpPr/>
            <p:nvPr/>
          </p:nvSpPr>
          <p:spPr>
            <a:xfrm>
              <a:off x="0" y="2498170"/>
              <a:ext cx="5055800" cy="216262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pic>
          <p:nvPicPr>
            <p:cNvPr id="3075" name="Picture 3" descr="C:\Users\laitianyue\Desktop\封面 [已恢复]-14.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51063" y="1848066"/>
              <a:ext cx="3663778" cy="3556905"/>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组合 16"/>
            <p:cNvGrpSpPr/>
            <p:nvPr/>
          </p:nvGrpSpPr>
          <p:grpSpPr>
            <a:xfrm>
              <a:off x="3802453" y="2246862"/>
              <a:ext cx="2919338" cy="3115390"/>
              <a:chOff x="4462366" y="690753"/>
              <a:chExt cx="3701356" cy="3949926"/>
            </a:xfrm>
          </p:grpSpPr>
          <p:pic>
            <p:nvPicPr>
              <p:cNvPr id="18" name="图片 17"/>
              <p:cNvPicPr>
                <a:picLocks noChangeAspect="1"/>
              </p:cNvPicPr>
              <p:nvPr/>
            </p:nvPicPr>
            <p:blipFill>
              <a:blip r:embed="rId2"/>
              <a:stretch>
                <a:fillRect/>
              </a:stretch>
            </p:blipFill>
            <p:spPr>
              <a:xfrm>
                <a:off x="4537316" y="690753"/>
                <a:ext cx="3028276" cy="3949926"/>
              </a:xfrm>
              <a:prstGeom prst="rect">
                <a:avLst/>
              </a:prstGeom>
            </p:spPr>
          </p:pic>
          <p:sp>
            <p:nvSpPr>
              <p:cNvPr id="19" name="文本框 18"/>
              <p:cNvSpPr txBox="1"/>
              <p:nvPr/>
            </p:nvSpPr>
            <p:spPr>
              <a:xfrm>
                <a:off x="4462366" y="2611554"/>
                <a:ext cx="1975700" cy="753269"/>
              </a:xfrm>
              <a:prstGeom prst="rect">
                <a:avLst/>
              </a:prstGeom>
              <a:noFill/>
              <a:scene3d>
                <a:camera prst="perspectiveHeroicExtremeLeftFacing" fov="2700000">
                  <a:rot lat="2400000" lon="2400000" rev="21594000"/>
                </a:camera>
                <a:lightRig rig="threePt" dir="t"/>
              </a:scene3d>
            </p:spPr>
            <p:txBody>
              <a:bodyPr wrap="square" rtlCol="0">
                <a:spAutoFit/>
              </a:bodyPr>
              <a:lstStyle/>
              <a:p>
                <a:r>
                  <a:rPr kumimoji="1" lang="en-US" altLang="zh-CN" sz="3200" b="1" dirty="0">
                    <a:solidFill>
                      <a:schemeClr val="bg1"/>
                    </a:solidFill>
                    <a:latin typeface="微软雅黑" panose="020B0503020204020204" pitchFamily="34" charset="-122"/>
                    <a:ea typeface="微软雅黑" panose="020B0503020204020204" pitchFamily="34" charset="-122"/>
                  </a:rPr>
                  <a:t>PART</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904339" y="2189557"/>
                <a:ext cx="2259383" cy="1133688"/>
              </a:xfrm>
              <a:prstGeom prst="rect">
                <a:avLst/>
              </a:prstGeom>
              <a:noFill/>
              <a:scene3d>
                <a:camera prst="isometricOffAxis1Right">
                  <a:rot lat="1800000" lon="18600000" rev="0"/>
                </a:camera>
                <a:lightRig rig="threePt" dir="t"/>
              </a:scene3d>
            </p:spPr>
            <p:txBody>
              <a:bodyPr wrap="square" rtlCol="0">
                <a:spAutoFit/>
              </a:bodyPr>
              <a:lstStyle/>
              <a:p>
                <a:pPr algn="ctr"/>
                <a:r>
                  <a:rPr kumimoji="1" lang="zh-CN" altLang="en-US" sz="4800" b="1" dirty="0">
                    <a:solidFill>
                      <a:schemeClr val="bg1"/>
                    </a:solidFill>
                    <a:latin typeface="微软雅黑" panose="020B0503020204020204" pitchFamily="34" charset="-122"/>
                    <a:ea typeface="微软雅黑" panose="020B0503020204020204" pitchFamily="34" charset="-122"/>
                  </a:rPr>
                  <a:t>三</a:t>
                </a:r>
                <a:endParaRPr kumimoji="1"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3" name="等腰三角形 2"/>
            <p:cNvSpPr/>
            <p:nvPr/>
          </p:nvSpPr>
          <p:spPr>
            <a:xfrm rot="5400000">
              <a:off x="6538505" y="3461729"/>
              <a:ext cx="474562" cy="409105"/>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500" fill="hold"/>
                                        <p:tgtEl>
                                          <p:spTgt spid="8"/>
                                        </p:tgtEl>
                                        <p:attrNameLst>
                                          <p:attrName>ppt_x</p:attrName>
                                        </p:attrNameLst>
                                      </p:cBhvr>
                                      <p:tavLst>
                                        <p:tav tm="0">
                                          <p:val>
                                            <p:strVal val="#ppt_x"/>
                                          </p:val>
                                        </p:tav>
                                        <p:tav tm="100000">
                                          <p:val>
                                            <p:strVal val="#ppt_x"/>
                                          </p:val>
                                        </p:tav>
                                      </p:tavLst>
                                    </p:anim>
                                    <p:anim calcmode="lin" valueType="num">
                                      <p:cBhvr additive="base">
                                        <p:cTn id="12" dur="1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a:sym typeface="+mn-ea"/>
              </a:rPr>
              <a:t>非对称密码</a:t>
            </a:r>
            <a:endParaRPr lang="zh-CN" altLang="en-US" sz="3600" dirty="0"/>
          </a:p>
        </p:txBody>
      </p:sp>
      <p:sp>
        <p:nvSpPr>
          <p:cNvPr id="4" name="文本框 3"/>
          <p:cNvSpPr txBox="1"/>
          <p:nvPr/>
        </p:nvSpPr>
        <p:spPr>
          <a:xfrm>
            <a:off x="947420" y="1333500"/>
            <a:ext cx="10296525" cy="2306955"/>
          </a:xfrm>
          <a:prstGeom prst="rect">
            <a:avLst/>
          </a:prstGeom>
          <a:noFill/>
        </p:spPr>
        <p:txBody>
          <a:bodyPr wrap="square" rtlCol="0">
            <a:spAutoFit/>
          </a:bodyPr>
          <a:p>
            <a:pPr indent="0">
              <a:lnSpc>
                <a:spcPct val="150000"/>
              </a:lnSpc>
              <a:buNone/>
            </a:pPr>
            <a:r>
              <a:rPr lang="en-US" altLang="zh-CN" sz="2400"/>
              <a:t>• 每个用户一个密钥对</a:t>
            </a:r>
            <a:r>
              <a:rPr lang="zh-CN" altLang="en-US" sz="2400"/>
              <a:t>，</a:t>
            </a:r>
            <a:r>
              <a:rPr lang="en-US" altLang="zh-CN" sz="2400"/>
              <a:t>一个公钥public key和一个对应的私钥private key</a:t>
            </a:r>
            <a:r>
              <a:rPr lang="zh-CN" altLang="en-US" sz="2400"/>
              <a:t>。</a:t>
            </a:r>
            <a:endParaRPr lang="en-US" altLang="zh-CN" sz="2400"/>
          </a:p>
          <a:p>
            <a:pPr indent="0">
              <a:lnSpc>
                <a:spcPct val="150000"/>
              </a:lnSpc>
              <a:buNone/>
            </a:pPr>
            <a:r>
              <a:rPr lang="en-US" altLang="zh-CN" sz="2400"/>
              <a:t>• 公钥将在系统内被公开</a:t>
            </a:r>
            <a:r>
              <a:rPr lang="zh-CN" altLang="en-US" sz="2400"/>
              <a:t>。</a:t>
            </a:r>
            <a:endParaRPr lang="en-US" altLang="zh-CN" sz="2400"/>
          </a:p>
          <a:p>
            <a:pPr indent="0">
              <a:lnSpc>
                <a:spcPct val="150000"/>
              </a:lnSpc>
              <a:buNone/>
            </a:pPr>
            <a:r>
              <a:rPr lang="en-US" altLang="zh-CN" sz="2400"/>
              <a:t>• 私钥由用户本人安全保管</a:t>
            </a:r>
            <a:r>
              <a:rPr lang="zh-CN" altLang="en-US" sz="2400"/>
              <a:t>。</a:t>
            </a:r>
            <a:endParaRPr lang="en-US" altLang="zh-CN" sz="2400"/>
          </a:p>
          <a:p>
            <a:pPr indent="0">
              <a:lnSpc>
                <a:spcPct val="150000"/>
              </a:lnSpc>
              <a:buNone/>
            </a:pPr>
            <a:r>
              <a:rPr lang="en-US" altLang="zh-CN" sz="2400"/>
              <a:t>• </a:t>
            </a:r>
            <a:r>
              <a:rPr lang="en-US" altLang="zh-CN" sz="2400">
                <a:sym typeface="+mn-ea"/>
              </a:rPr>
              <a:t>非对称密码</a:t>
            </a:r>
            <a:r>
              <a:rPr lang="en-US" altLang="zh-CN" sz="2400"/>
              <a:t>也被称为： </a:t>
            </a:r>
            <a:r>
              <a:rPr lang="zh-CN" altLang="en-US" sz="2400"/>
              <a:t>公钥</a:t>
            </a:r>
            <a:r>
              <a:rPr lang="en-US" altLang="zh-CN" sz="2400"/>
              <a:t>密码</a:t>
            </a:r>
            <a:r>
              <a:rPr lang="zh-CN" altLang="en-US" sz="2400"/>
              <a:t>。</a:t>
            </a:r>
            <a:endParaRPr lang="en-US" altLang="zh-CN" sz="2400"/>
          </a:p>
        </p:txBody>
      </p:sp>
      <mc:AlternateContent xmlns:mc="http://schemas.openxmlformats.org/markup-compatibility/2006">
        <mc:Choice xmlns:a14="http://schemas.microsoft.com/office/drawing/2010/main" Requires="a14">
          <p:sp>
            <p:nvSpPr>
              <p:cNvPr id="6" name="文本框 5"/>
              <p:cNvSpPr txBox="1"/>
              <p:nvPr/>
            </p:nvSpPr>
            <p:spPr>
              <a:xfrm>
                <a:off x="3180651" y="4063301"/>
                <a:ext cx="131381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𝐸</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180651" y="4063301"/>
                <a:ext cx="1313815" cy="368300"/>
              </a:xfrm>
              <a:prstGeom prst="rect">
                <a:avLst/>
              </a:prstGeom>
              <a:blipFill rotWithShape="1">
                <a:blip r:embed="rId1"/>
                <a:stretch>
                  <a:fillRect l="-43" t="-155" r="-682" b="1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316281" y="4063301"/>
                <a:ext cx="133540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2</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6316281" y="4063301"/>
                <a:ext cx="1335405" cy="368300"/>
              </a:xfrm>
              <a:prstGeom prst="rect">
                <a:avLst/>
              </a:prstGeom>
              <a:blipFill rotWithShape="1">
                <a:blip r:embed="rId2"/>
                <a:stretch>
                  <a:fillRect l="-43" t="-155" r="-433" b="15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spc="300">
                <a:sym typeface="+mn-ea"/>
              </a:rPr>
              <a:t>RSA</a:t>
            </a:r>
            <a:endParaRPr lang="en-US" altLang="zh-CN" sz="3600" spc="300" dirty="0">
              <a:sym typeface="+mn-ea"/>
            </a:endParaRPr>
          </a:p>
        </p:txBody>
      </p:sp>
      <p:sp>
        <p:nvSpPr>
          <p:cNvPr id="2" name="文本框 1"/>
          <p:cNvSpPr txBox="1"/>
          <p:nvPr/>
        </p:nvSpPr>
        <p:spPr>
          <a:xfrm>
            <a:off x="901065" y="1524000"/>
            <a:ext cx="10240645" cy="2676525"/>
          </a:xfrm>
          <a:prstGeom prst="rect">
            <a:avLst/>
          </a:prstGeom>
          <a:noFill/>
        </p:spPr>
        <p:txBody>
          <a:bodyPr wrap="square" rtlCol="0">
            <a:spAutoFit/>
          </a:bodyPr>
          <a:p>
            <a:r>
              <a:rPr lang="zh-CN" altLang="en-US" sz="2400"/>
              <a:t>RSA</a:t>
            </a:r>
            <a:r>
              <a:rPr lang="en-US" altLang="zh-CN" sz="2400"/>
              <a:t> </a:t>
            </a:r>
            <a:r>
              <a:rPr lang="zh-CN" altLang="en-US" sz="2400"/>
              <a:t>是1977年由罗纳德·李维斯特（Ron Rivest）、阿迪·萨莫尔（Adi Shamir）和伦纳德·阿德曼（Leonard Adleman）一起提出。</a:t>
            </a:r>
            <a:endParaRPr lang="zh-CN" altLang="en-US" sz="2400"/>
          </a:p>
          <a:p>
            <a:endParaRPr lang="zh-CN" altLang="en-US" sz="2400"/>
          </a:p>
          <a:p>
            <a:r>
              <a:rPr lang="en-US" altLang="zh-CN" sz="2400"/>
              <a:t>RSA允许选择公钥的大小</a:t>
            </a:r>
            <a:r>
              <a:rPr lang="zh-CN" altLang="en-US" sz="2400"/>
              <a:t>，目前被破解的最长RSA密钥是768个二进制位，1024位的RSA密钥基本安全，2048位的密钥极其安全。</a:t>
            </a:r>
            <a:endParaRPr lang="zh-CN" altLang="en-US" sz="2400"/>
          </a:p>
          <a:p>
            <a:endParaRPr lang="zh-CN" altLang="en-US" sz="2400"/>
          </a:p>
          <a:p>
            <a:r>
              <a:rPr lang="zh-CN" altLang="en-US" sz="2400"/>
              <a:t>是迄今未知理论上最为成熟完善的公钥密码</a:t>
            </a:r>
            <a:r>
              <a:rPr lang="zh-CN" altLang="en-US" sz="2400"/>
              <a:t>体制。</a:t>
            </a:r>
            <a:endParaRPr lang="zh-CN" altLang="en-US" sz="2400"/>
          </a:p>
        </p:txBody>
      </p:sp>
      <mc:AlternateContent xmlns:mc="http://schemas.openxmlformats.org/markup-compatibility/2006">
        <mc:Choice xmlns:a14="http://schemas.microsoft.com/office/drawing/2010/main" Requires="a14">
          <p:sp>
            <p:nvSpPr>
              <p:cNvPr id="6" name="文本框 5"/>
              <p:cNvSpPr txBox="1"/>
              <p:nvPr/>
            </p:nvSpPr>
            <p:spPr>
              <a:xfrm>
                <a:off x="3300666" y="4448746"/>
                <a:ext cx="1606550" cy="37973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𝑐</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𝑚</m:t>
                          </m:r>
                        </m:e>
                        <m:sup>
                          <m:r>
                            <a:rPr lang="en-US" altLang="zh-CN" i="1">
                              <a:latin typeface="Cambria Math" panose="02040503050406030204" charset="0"/>
                              <a:cs typeface="Cambria Math" panose="02040503050406030204" charset="0"/>
                            </a:rPr>
                            <m:t>𝐸</m:t>
                          </m:r>
                        </m:sup>
                      </m:sSup>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𝑚𝑜𝑑</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𝑁</m:t>
                      </m:r>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300666" y="4448746"/>
                <a:ext cx="1606550" cy="379730"/>
              </a:xfrm>
              <a:prstGeom prst="rect">
                <a:avLst/>
              </a:prstGeom>
              <a:blipFill rotWithShape="1">
                <a:blip r:embed="rId1"/>
                <a:stretch>
                  <a:fillRect l="-36" t="-150" r="-557" b="1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6141021" y="4448746"/>
                <a:ext cx="1645285" cy="37973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𝑚</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𝑐</m:t>
                          </m:r>
                        </m:e>
                        <m:sup>
                          <m:r>
                            <a:rPr lang="en-US" altLang="zh-CN" i="1">
                              <a:latin typeface="Cambria Math" panose="02040503050406030204" charset="0"/>
                              <a:cs typeface="Cambria Math" panose="02040503050406030204" charset="0"/>
                            </a:rPr>
                            <m:t>𝐷</m:t>
                          </m:r>
                        </m:sup>
                      </m:sSup>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𝑚𝑜𝑑</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𝑁</m:t>
                      </m:r>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6141021" y="4448746"/>
                <a:ext cx="1645285" cy="379730"/>
              </a:xfrm>
              <a:prstGeom prst="rect">
                <a:avLst/>
              </a:prstGeom>
              <a:blipFill rotWithShape="1">
                <a:blip r:embed="rId2"/>
                <a:stretch>
                  <a:fillRect l="-35" t="-150" r="35" b="150"/>
                </a:stretch>
              </a:blipFill>
            </p:spPr>
            <p:txBody>
              <a:bodyPr/>
              <a:lstStyle/>
              <a:p>
                <a:r>
                  <a:rPr lang="zh-CN" altLang="en-US">
                    <a:noFill/>
                  </a:rPr>
                  <a:t> </a:t>
                </a:r>
              </a:p>
            </p:txBody>
          </p:sp>
        </mc:Fallback>
      </mc:AlternateContent>
      <p:sp>
        <p:nvSpPr>
          <p:cNvPr id="5" name="文本框 4"/>
          <p:cNvSpPr txBox="1"/>
          <p:nvPr/>
        </p:nvSpPr>
        <p:spPr>
          <a:xfrm>
            <a:off x="3380740" y="5076825"/>
            <a:ext cx="5965190" cy="922020"/>
          </a:xfrm>
          <a:prstGeom prst="rect">
            <a:avLst/>
          </a:prstGeom>
          <a:noFill/>
        </p:spPr>
        <p:txBody>
          <a:bodyPr wrap="square" rtlCol="0">
            <a:spAutoFit/>
          </a:bodyPr>
          <a:p>
            <a:pPr>
              <a:lnSpc>
                <a:spcPct val="150000"/>
              </a:lnSpc>
            </a:pPr>
            <a:r>
              <a:rPr lang="zh-CN" altLang="en-US" b="1">
                <a:ea typeface="+mn-lt"/>
                <a:cs typeface="+mn-lt"/>
              </a:rPr>
              <a:t>公钥：</a:t>
            </a:r>
            <a:r>
              <a:rPr lang="en-US" altLang="zh-CN" b="1">
                <a:ea typeface="+mn-lt"/>
                <a:cs typeface="+mn-lt"/>
              </a:rPr>
              <a:t>E,N</a:t>
            </a:r>
            <a:endParaRPr lang="en-US" altLang="zh-CN" b="1">
              <a:ea typeface="+mn-lt"/>
              <a:cs typeface="+mn-lt"/>
            </a:endParaRPr>
          </a:p>
          <a:p>
            <a:pPr>
              <a:lnSpc>
                <a:spcPct val="150000"/>
              </a:lnSpc>
            </a:pPr>
            <a:r>
              <a:rPr lang="zh-CN" altLang="en-US" b="1">
                <a:ea typeface="+mn-lt"/>
                <a:cs typeface="+mn-lt"/>
              </a:rPr>
              <a:t>私钥：</a:t>
            </a:r>
            <a:r>
              <a:rPr lang="en-US" altLang="zh-CN" b="1">
                <a:ea typeface="+mn-lt"/>
                <a:cs typeface="+mn-lt"/>
              </a:rPr>
              <a:t>D,N</a:t>
            </a:r>
            <a:endParaRPr lang="en-US" altLang="zh-CN" b="1">
              <a:ea typeface="+mn-lt"/>
              <a:cs typeface="+mn-lt"/>
            </a:endParaRPr>
          </a:p>
        </p:txBody>
      </p:sp>
      <p:sp>
        <p:nvSpPr>
          <p:cNvPr id="7" name="文本框 6"/>
          <p:cNvSpPr txBox="1"/>
          <p:nvPr/>
        </p:nvSpPr>
        <p:spPr>
          <a:xfrm>
            <a:off x="1458595" y="5948045"/>
            <a:ext cx="2958465" cy="368300"/>
          </a:xfrm>
          <a:prstGeom prst="rect">
            <a:avLst/>
          </a:prstGeom>
          <a:noFill/>
        </p:spPr>
        <p:txBody>
          <a:bodyPr wrap="square" rtlCol="0">
            <a:spAutoFit/>
          </a:bodyPr>
          <a:p>
            <a:r>
              <a:rPr lang="zh-CN" altLang="en-US">
                <a:hlinkClick r:id="rId3" action="ppaction://hlinkfile"/>
              </a:rPr>
              <a:t>RSA算法原理</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a:latin typeface="等线" panose="02010600030101010101" charset="-122"/>
                <a:ea typeface="等线" panose="02010600030101010101" charset="-122"/>
                <a:cs typeface="等线" panose="02010600030101010101" charset="-122"/>
                <a:sym typeface="+mn-ea"/>
              </a:rPr>
              <a:t>RSA C#</a:t>
            </a:r>
            <a:r>
              <a:rPr sz="3600">
                <a:latin typeface="等线" panose="02010600030101010101" charset="-122"/>
                <a:ea typeface="等线" panose="02010600030101010101" charset="-122"/>
                <a:cs typeface="等线" panose="02010600030101010101" charset="-122"/>
                <a:sym typeface="+mn-ea"/>
              </a:rPr>
              <a:t>代码实现</a:t>
            </a:r>
            <a:endParaRPr lang="en-US" altLang="zh-CN" sz="3600" spc="300" dirty="0">
              <a:sym typeface="+mn-ea"/>
            </a:endParaRPr>
          </a:p>
        </p:txBody>
      </p:sp>
      <p:sp>
        <p:nvSpPr>
          <p:cNvPr id="4" name="文本框 3"/>
          <p:cNvSpPr txBox="1"/>
          <p:nvPr/>
        </p:nvSpPr>
        <p:spPr>
          <a:xfrm>
            <a:off x="8425815" y="2255520"/>
            <a:ext cx="2540000" cy="2861310"/>
          </a:xfrm>
          <a:prstGeom prst="rect">
            <a:avLst/>
          </a:prstGeom>
          <a:noFill/>
        </p:spPr>
        <p:txBody>
          <a:bodyPr wrap="square" rtlCol="0" anchor="t">
            <a:spAutoFit/>
          </a:bodyPr>
          <a:p>
            <a:r>
              <a:rPr lang="zh-CN" altLang="en-US"/>
              <a:t>FikVVHgRCL5jhxO6Jnerr3bV4KiHhjnVosy6qLuFavuJXk48Zukp64cXWNSGM+X85U5PV0f8eDbq4A28fi6ifMokERtjgVqyPzbtGzGSxuMkIwIEn9P+1yg8kRfzv3EPW8cgs4KRBpfHoHLp5CBckD7bOOQDbzAV9ggJTqFhlcM=</a:t>
            </a:r>
            <a:endParaRPr lang="zh-CN" altLang="en-US"/>
          </a:p>
        </p:txBody>
      </p:sp>
      <p:sp>
        <p:nvSpPr>
          <p:cNvPr id="5" name="文本框 4"/>
          <p:cNvSpPr txBox="1"/>
          <p:nvPr/>
        </p:nvSpPr>
        <p:spPr>
          <a:xfrm>
            <a:off x="8425815" y="1449070"/>
            <a:ext cx="2540000" cy="368300"/>
          </a:xfrm>
          <a:prstGeom prst="rect">
            <a:avLst/>
          </a:prstGeom>
          <a:noFill/>
        </p:spPr>
        <p:txBody>
          <a:bodyPr wrap="square" rtlCol="0" anchor="t">
            <a:spAutoFit/>
          </a:bodyPr>
          <a:p>
            <a:r>
              <a:rPr lang="zh-CN" altLang="en-US"/>
              <a:t>明文：</a:t>
            </a:r>
            <a:r>
              <a:rPr lang="en-US" altLang="zh-CN"/>
              <a:t>fineex</a:t>
            </a:r>
            <a:endParaRPr lang="en-US" altLang="zh-CN"/>
          </a:p>
        </p:txBody>
      </p:sp>
      <p:pic>
        <p:nvPicPr>
          <p:cNvPr id="7" name="图片 6"/>
          <p:cNvPicPr>
            <a:picLocks noChangeAspect="1"/>
          </p:cNvPicPr>
          <p:nvPr/>
        </p:nvPicPr>
        <p:blipFill>
          <a:blip r:embed="rId1"/>
          <a:stretch>
            <a:fillRect/>
          </a:stretch>
        </p:blipFill>
        <p:spPr>
          <a:xfrm>
            <a:off x="1178560" y="1470660"/>
            <a:ext cx="5276850" cy="1857375"/>
          </a:xfrm>
          <a:prstGeom prst="rect">
            <a:avLst/>
          </a:prstGeom>
        </p:spPr>
      </p:pic>
      <p:pic>
        <p:nvPicPr>
          <p:cNvPr id="8" name="图片 7"/>
          <p:cNvPicPr>
            <a:picLocks noChangeAspect="1"/>
          </p:cNvPicPr>
          <p:nvPr/>
        </p:nvPicPr>
        <p:blipFill>
          <a:blip r:embed="rId2"/>
          <a:stretch>
            <a:fillRect/>
          </a:stretch>
        </p:blipFill>
        <p:spPr>
          <a:xfrm>
            <a:off x="1178560" y="3787775"/>
            <a:ext cx="5438775" cy="1876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非对称密码解决什么</a:t>
            </a:r>
            <a:r>
              <a:rPr sz="3600" spc="300" dirty="0">
                <a:sym typeface="+mn-ea"/>
              </a:rPr>
              <a:t>问题</a:t>
            </a:r>
            <a:endParaRPr sz="3600" spc="300" dirty="0">
              <a:sym typeface="+mn-ea"/>
            </a:endParaRPr>
          </a:p>
        </p:txBody>
      </p:sp>
      <p:sp>
        <p:nvSpPr>
          <p:cNvPr id="2" name="文本框 1"/>
          <p:cNvSpPr txBox="1"/>
          <p:nvPr/>
        </p:nvSpPr>
        <p:spPr>
          <a:xfrm>
            <a:off x="3111183" y="1346200"/>
            <a:ext cx="5969635" cy="460375"/>
          </a:xfrm>
          <a:prstGeom prst="rect">
            <a:avLst/>
          </a:prstGeom>
          <a:noFill/>
        </p:spPr>
        <p:txBody>
          <a:bodyPr wrap="square" rtlCol="0">
            <a:spAutoFit/>
          </a:bodyPr>
          <a:p>
            <a:pPr algn="ctr"/>
            <a:r>
              <a:rPr lang="zh-CN" altLang="en-US" sz="2400"/>
              <a:t>非对称密码解决了密钥配送的问题</a:t>
            </a:r>
            <a:r>
              <a:rPr lang="en-US" altLang="zh-CN" sz="2400"/>
              <a:t> </a:t>
            </a:r>
            <a:r>
              <a:rPr lang="zh-CN" altLang="en-US" sz="2400"/>
              <a:t>？</a:t>
            </a:r>
            <a:endParaRPr lang="zh-CN" altLang="en-US" sz="2400"/>
          </a:p>
        </p:txBody>
      </p:sp>
      <p:pic>
        <p:nvPicPr>
          <p:cNvPr id="6" name="图片 5"/>
          <p:cNvPicPr>
            <a:picLocks noChangeAspect="1"/>
          </p:cNvPicPr>
          <p:nvPr/>
        </p:nvPicPr>
        <p:blipFill>
          <a:blip r:embed="rId1"/>
          <a:stretch>
            <a:fillRect/>
          </a:stretch>
        </p:blipFill>
        <p:spPr>
          <a:xfrm>
            <a:off x="2644140" y="2340610"/>
            <a:ext cx="6903720" cy="274129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中间人攻击</a:t>
            </a:r>
            <a:r>
              <a:rPr lang="en-US" altLang="zh-CN" sz="3600" spc="300" dirty="0">
                <a:sym typeface="+mn-ea"/>
              </a:rPr>
              <a:t>(MITM)</a:t>
            </a:r>
            <a:endParaRPr lang="en-US" altLang="zh-CN" sz="3600" spc="300" dirty="0">
              <a:sym typeface="+mn-ea"/>
            </a:endParaRPr>
          </a:p>
        </p:txBody>
      </p:sp>
      <p:sp>
        <p:nvSpPr>
          <p:cNvPr id="2" name="文本框 1"/>
          <p:cNvSpPr txBox="1"/>
          <p:nvPr/>
        </p:nvSpPr>
        <p:spPr>
          <a:xfrm>
            <a:off x="7233920" y="2635250"/>
            <a:ext cx="3540125" cy="2030095"/>
          </a:xfrm>
          <a:prstGeom prst="rect">
            <a:avLst/>
          </a:prstGeom>
          <a:noFill/>
        </p:spPr>
        <p:txBody>
          <a:bodyPr wrap="square" rtlCol="0">
            <a:spAutoFit/>
          </a:bodyPr>
          <a:p>
            <a:pPr algn="l">
              <a:lnSpc>
                <a:spcPct val="100000"/>
              </a:lnSpc>
            </a:pPr>
            <a:r>
              <a:rPr lang="zh-CN" altLang="en-US"/>
              <a:t>中间人攻击（Man-in-the-middle attack）指攻击者与通讯的两端分别创建独立的联系，并交换其所收到的数据，使通讯的两端认为他们正在通过一个私密的连接与对方直接对话，但事实上整个会话都被攻击者完全控制。</a:t>
            </a:r>
            <a:endParaRPr lang="zh-CN" altLang="en-US"/>
          </a:p>
        </p:txBody>
      </p:sp>
      <p:pic>
        <p:nvPicPr>
          <p:cNvPr id="4" name="图片 3"/>
          <p:cNvPicPr>
            <a:picLocks noChangeAspect="1"/>
          </p:cNvPicPr>
          <p:nvPr/>
        </p:nvPicPr>
        <p:blipFill>
          <a:blip r:embed="rId1"/>
          <a:stretch>
            <a:fillRect/>
          </a:stretch>
        </p:blipFill>
        <p:spPr>
          <a:xfrm>
            <a:off x="603885" y="1193165"/>
            <a:ext cx="5786120" cy="491426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222" y="-20958"/>
            <a:ext cx="12192000" cy="68789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nvGrpSpPr>
          <p:cNvPr id="8" name="Group 7"/>
          <p:cNvGrpSpPr/>
          <p:nvPr/>
        </p:nvGrpSpPr>
        <p:grpSpPr>
          <a:xfrm>
            <a:off x="6561054" y="3212533"/>
            <a:ext cx="5630946" cy="1066410"/>
            <a:chOff x="6561054" y="3212533"/>
            <a:chExt cx="5630946" cy="1066410"/>
          </a:xfrm>
        </p:grpSpPr>
        <p:sp>
          <p:nvSpPr>
            <p:cNvPr id="25" name="文本框 10"/>
            <p:cNvSpPr txBox="1"/>
            <p:nvPr/>
          </p:nvSpPr>
          <p:spPr>
            <a:xfrm>
              <a:off x="6692928" y="3212533"/>
              <a:ext cx="5367198" cy="645160"/>
            </a:xfrm>
            <a:prstGeom prst="rect">
              <a:avLst/>
            </a:prstGeom>
            <a:noFill/>
          </p:spPr>
          <p:txBody>
            <a:bodyPr wrap="square" rtlCol="0">
              <a:spAutoFit/>
              <a:scene3d>
                <a:camera prst="orthographicFront"/>
                <a:lightRig rig="threePt" dir="t"/>
              </a:scene3d>
              <a:sp3d contourW="12700"/>
            </a:bodyPr>
            <a:lstStyle/>
            <a:p>
              <a:r>
                <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单向散列函数</a:t>
              </a:r>
              <a:endPar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4" name="直接连接符 3"/>
            <p:cNvCxnSpPr/>
            <p:nvPr/>
          </p:nvCxnSpPr>
          <p:spPr>
            <a:xfrm>
              <a:off x="6561054" y="4278943"/>
              <a:ext cx="5630946" cy="0"/>
            </a:xfrm>
            <a:prstGeom prst="line">
              <a:avLst/>
            </a:prstGeom>
            <a:ln w="28575">
              <a:solidFill>
                <a:srgbClr val="FF4506"/>
              </a:solidFill>
            </a:ln>
          </p:spPr>
          <p:style>
            <a:lnRef idx="1">
              <a:schemeClr val="accent2"/>
            </a:lnRef>
            <a:fillRef idx="0">
              <a:schemeClr val="accent2"/>
            </a:fillRef>
            <a:effectRef idx="0">
              <a:schemeClr val="accent2"/>
            </a:effectRef>
            <a:fontRef idx="minor">
              <a:schemeClr val="tx1"/>
            </a:fontRef>
          </p:style>
        </p:cxnSp>
      </p:grpSp>
      <p:grpSp>
        <p:nvGrpSpPr>
          <p:cNvPr id="7" name="Group 6"/>
          <p:cNvGrpSpPr/>
          <p:nvPr/>
        </p:nvGrpSpPr>
        <p:grpSpPr>
          <a:xfrm>
            <a:off x="0" y="1848067"/>
            <a:ext cx="6479357" cy="3301450"/>
            <a:chOff x="0" y="1848066"/>
            <a:chExt cx="6980338" cy="3556905"/>
          </a:xfrm>
        </p:grpSpPr>
        <p:sp>
          <p:nvSpPr>
            <p:cNvPr id="14" name="矩形 13"/>
            <p:cNvSpPr/>
            <p:nvPr/>
          </p:nvSpPr>
          <p:spPr>
            <a:xfrm>
              <a:off x="0" y="2498170"/>
              <a:ext cx="5055800" cy="216262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pic>
          <p:nvPicPr>
            <p:cNvPr id="3075" name="Picture 3" descr="C:\Users\laitianyue\Desktop\封面 [已恢复]-14.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51063" y="1848066"/>
              <a:ext cx="3663778" cy="3556905"/>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组合 16"/>
            <p:cNvGrpSpPr/>
            <p:nvPr/>
          </p:nvGrpSpPr>
          <p:grpSpPr>
            <a:xfrm>
              <a:off x="3802453" y="2246862"/>
              <a:ext cx="2919338" cy="3115390"/>
              <a:chOff x="4462366" y="690753"/>
              <a:chExt cx="3701356" cy="3949926"/>
            </a:xfrm>
          </p:grpSpPr>
          <p:pic>
            <p:nvPicPr>
              <p:cNvPr id="18" name="图片 17"/>
              <p:cNvPicPr>
                <a:picLocks noChangeAspect="1"/>
              </p:cNvPicPr>
              <p:nvPr/>
            </p:nvPicPr>
            <p:blipFill>
              <a:blip r:embed="rId2"/>
              <a:stretch>
                <a:fillRect/>
              </a:stretch>
            </p:blipFill>
            <p:spPr>
              <a:xfrm>
                <a:off x="4537316" y="690753"/>
                <a:ext cx="3028276" cy="3949926"/>
              </a:xfrm>
              <a:prstGeom prst="rect">
                <a:avLst/>
              </a:prstGeom>
            </p:spPr>
          </p:pic>
          <p:sp>
            <p:nvSpPr>
              <p:cNvPr id="19" name="文本框 18"/>
              <p:cNvSpPr txBox="1"/>
              <p:nvPr/>
            </p:nvSpPr>
            <p:spPr>
              <a:xfrm>
                <a:off x="4462366" y="2611554"/>
                <a:ext cx="1975700" cy="753269"/>
              </a:xfrm>
              <a:prstGeom prst="rect">
                <a:avLst/>
              </a:prstGeom>
              <a:noFill/>
              <a:scene3d>
                <a:camera prst="perspectiveHeroicExtremeLeftFacing" fov="2700000">
                  <a:rot lat="2400000" lon="2400000" rev="21594000"/>
                </a:camera>
                <a:lightRig rig="threePt" dir="t"/>
              </a:scene3d>
            </p:spPr>
            <p:txBody>
              <a:bodyPr wrap="square" rtlCol="0">
                <a:spAutoFit/>
              </a:bodyPr>
              <a:lstStyle/>
              <a:p>
                <a:r>
                  <a:rPr kumimoji="1" lang="en-US" altLang="zh-CN" sz="3200" b="1" dirty="0">
                    <a:solidFill>
                      <a:schemeClr val="bg1"/>
                    </a:solidFill>
                    <a:latin typeface="微软雅黑" panose="020B0503020204020204" pitchFamily="34" charset="-122"/>
                    <a:ea typeface="微软雅黑" panose="020B0503020204020204" pitchFamily="34" charset="-122"/>
                  </a:rPr>
                  <a:t>PART</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904339" y="2189557"/>
                <a:ext cx="2259383" cy="1133688"/>
              </a:xfrm>
              <a:prstGeom prst="rect">
                <a:avLst/>
              </a:prstGeom>
              <a:noFill/>
              <a:scene3d>
                <a:camera prst="isometricOffAxis1Right">
                  <a:rot lat="1800000" lon="18600000" rev="0"/>
                </a:camera>
                <a:lightRig rig="threePt" dir="t"/>
              </a:scene3d>
            </p:spPr>
            <p:txBody>
              <a:bodyPr wrap="square" rtlCol="0">
                <a:spAutoFit/>
              </a:bodyPr>
              <a:lstStyle/>
              <a:p>
                <a:pPr algn="ctr"/>
                <a:r>
                  <a:rPr kumimoji="1" lang="zh-CN" altLang="en-US" sz="4800" b="1" dirty="0">
                    <a:solidFill>
                      <a:schemeClr val="bg1"/>
                    </a:solidFill>
                    <a:latin typeface="微软雅黑" panose="020B0503020204020204" pitchFamily="34" charset="-122"/>
                    <a:ea typeface="微软雅黑" panose="020B0503020204020204" pitchFamily="34" charset="-122"/>
                  </a:rPr>
                  <a:t>四</a:t>
                </a:r>
                <a:endParaRPr kumimoji="1"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3" name="等腰三角形 2"/>
            <p:cNvSpPr/>
            <p:nvPr/>
          </p:nvSpPr>
          <p:spPr>
            <a:xfrm rot="5400000">
              <a:off x="6538505" y="3461729"/>
              <a:ext cx="474562" cy="409105"/>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500" fill="hold"/>
                                        <p:tgtEl>
                                          <p:spTgt spid="8"/>
                                        </p:tgtEl>
                                        <p:attrNameLst>
                                          <p:attrName>ppt_x</p:attrName>
                                        </p:attrNameLst>
                                      </p:cBhvr>
                                      <p:tavLst>
                                        <p:tav tm="0">
                                          <p:val>
                                            <p:strVal val="#ppt_x"/>
                                          </p:val>
                                        </p:tav>
                                        <p:tav tm="100000">
                                          <p:val>
                                            <p:strVal val="#ppt_x"/>
                                          </p:val>
                                        </p:tav>
                                      </p:tavLst>
                                    </p:anim>
                                    <p:anim calcmode="lin" valueType="num">
                                      <p:cBhvr additive="base">
                                        <p:cTn id="12" dur="1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单向散列函数（</a:t>
            </a:r>
            <a:r>
              <a:rPr lang="en-US" altLang="zh-CN" sz="3600" spc="300" dirty="0">
                <a:sym typeface="+mn-ea"/>
              </a:rPr>
              <a:t>Hash Function</a:t>
            </a:r>
            <a:r>
              <a:rPr sz="3600" spc="300" dirty="0">
                <a:sym typeface="+mn-ea"/>
              </a:rPr>
              <a:t>）</a:t>
            </a:r>
            <a:endParaRPr lang="en-US" altLang="zh-CN" sz="3600" spc="300" dirty="0">
              <a:sym typeface="+mn-ea"/>
            </a:endParaRPr>
          </a:p>
        </p:txBody>
      </p:sp>
      <p:sp>
        <p:nvSpPr>
          <p:cNvPr id="2" name="文本框 1"/>
          <p:cNvSpPr txBox="1"/>
          <p:nvPr/>
        </p:nvSpPr>
        <p:spPr>
          <a:xfrm>
            <a:off x="1178560" y="2284730"/>
            <a:ext cx="8659495" cy="1753235"/>
          </a:xfrm>
          <a:prstGeom prst="rect">
            <a:avLst/>
          </a:prstGeom>
          <a:noFill/>
        </p:spPr>
        <p:txBody>
          <a:bodyPr wrap="square" rtlCol="0">
            <a:spAutoFit/>
          </a:bodyPr>
          <a:p>
            <a:pPr>
              <a:lnSpc>
                <a:spcPct val="150000"/>
              </a:lnSpc>
            </a:pPr>
            <a:r>
              <a:rPr lang="zh-CN" altLang="en-US">
                <a:latin typeface="等线" panose="02010600030101010101" charset="-122"/>
                <a:ea typeface="等线" panose="02010600030101010101" charset="-122"/>
                <a:cs typeface="等线" panose="02010600030101010101" charset="-122"/>
              </a:rPr>
              <a:t>一、任意长度消息计算出固定长度的散列值。</a:t>
            </a:r>
            <a:endParaRPr lang="zh-CN" altLang="en-US">
              <a:latin typeface="等线" panose="02010600030101010101" charset="-122"/>
              <a:ea typeface="等线" panose="02010600030101010101" charset="-122"/>
              <a:cs typeface="等线" panose="02010600030101010101" charset="-122"/>
            </a:endParaRPr>
          </a:p>
          <a:p>
            <a:pPr>
              <a:lnSpc>
                <a:spcPct val="150000"/>
              </a:lnSpc>
            </a:pPr>
            <a:r>
              <a:rPr lang="zh-CN" altLang="en-US">
                <a:latin typeface="等线" panose="02010600030101010101" charset="-122"/>
                <a:ea typeface="等线" panose="02010600030101010101" charset="-122"/>
                <a:cs typeface="等线" panose="02010600030101010101" charset="-122"/>
                <a:sym typeface="+mn-ea"/>
              </a:rPr>
              <a:t>二、能</a:t>
            </a:r>
            <a:r>
              <a:rPr lang="zh-CN" altLang="en-US">
                <a:latin typeface="等线" panose="02010600030101010101" charset="-122"/>
                <a:ea typeface="等线" panose="02010600030101010101" charset="-122"/>
                <a:cs typeface="等线" panose="02010600030101010101" charset="-122"/>
                <a:sym typeface="+mn-ea"/>
              </a:rPr>
              <a:t>够快速计算。</a:t>
            </a:r>
            <a:endParaRPr lang="zh-CN" altLang="en-US">
              <a:latin typeface="等线" panose="02010600030101010101" charset="-122"/>
              <a:ea typeface="等线" panose="02010600030101010101" charset="-122"/>
              <a:cs typeface="等线" panose="02010600030101010101" charset="-122"/>
            </a:endParaRPr>
          </a:p>
          <a:p>
            <a:pPr>
              <a:lnSpc>
                <a:spcPct val="150000"/>
              </a:lnSpc>
            </a:pPr>
            <a:r>
              <a:rPr lang="zh-CN" altLang="en-US">
                <a:latin typeface="等线" panose="02010600030101010101" charset="-122"/>
                <a:ea typeface="等线" panose="02010600030101010101" charset="-122"/>
                <a:cs typeface="等线" panose="02010600030101010101" charset="-122"/>
                <a:sym typeface="+mn-ea"/>
              </a:rPr>
              <a:t>三、消息不同，散列不同。</a:t>
            </a:r>
            <a:endParaRPr lang="zh-CN" altLang="en-US">
              <a:latin typeface="等线" panose="02010600030101010101" charset="-122"/>
              <a:ea typeface="等线" panose="02010600030101010101" charset="-122"/>
              <a:cs typeface="等线" panose="02010600030101010101" charset="-122"/>
            </a:endParaRPr>
          </a:p>
          <a:p>
            <a:pPr>
              <a:lnSpc>
                <a:spcPct val="150000"/>
              </a:lnSpc>
            </a:pPr>
            <a:r>
              <a:rPr lang="zh-CN" altLang="en-US">
                <a:latin typeface="等线" panose="02010600030101010101" charset="-122"/>
                <a:ea typeface="等线" panose="02010600030101010101" charset="-122"/>
                <a:cs typeface="等线" panose="02010600030101010101" charset="-122"/>
                <a:sym typeface="+mn-ea"/>
              </a:rPr>
              <a:t>四、具备单</a:t>
            </a:r>
            <a:r>
              <a:rPr lang="zh-CN" altLang="en-US">
                <a:latin typeface="等线" panose="02010600030101010101" charset="-122"/>
                <a:ea typeface="等线" panose="02010600030101010101" charset="-122"/>
                <a:cs typeface="等线" panose="02010600030101010101" charset="-122"/>
                <a:sym typeface="+mn-ea"/>
              </a:rPr>
              <a:t>向性，无法通过散列值反算出原消息。</a:t>
            </a:r>
            <a:endParaRPr lang="zh-CN" altLang="en-US">
              <a:latin typeface="等线" panose="02010600030101010101" charset="-122"/>
              <a:ea typeface="等线" panose="02010600030101010101" charset="-122"/>
              <a:cs typeface="等线" panose="02010600030101010101" charset="-122"/>
              <a:sym typeface="+mn-ea"/>
            </a:endParaRPr>
          </a:p>
        </p:txBody>
      </p:sp>
      <p:sp>
        <p:nvSpPr>
          <p:cNvPr id="4" name="文本框 3"/>
          <p:cNvSpPr txBox="1"/>
          <p:nvPr/>
        </p:nvSpPr>
        <p:spPr>
          <a:xfrm>
            <a:off x="860425" y="1048385"/>
            <a:ext cx="10310495" cy="1198880"/>
          </a:xfrm>
          <a:prstGeom prst="rect">
            <a:avLst/>
          </a:prstGeom>
          <a:noFill/>
        </p:spPr>
        <p:txBody>
          <a:bodyPr wrap="square" rtlCol="0">
            <a:spAutoFit/>
          </a:bodyPr>
          <a:p>
            <a:pPr>
              <a:lnSpc>
                <a:spcPct val="150000"/>
              </a:lnSpc>
            </a:pPr>
            <a:r>
              <a:rPr lang="zh-CN" altLang="en-US" sz="2400"/>
              <a:t>单向散列函数也称为消息摘要函数、哈希函数或者杂凑函数，输出的散列值称为消息摘要或者指纹。</a:t>
            </a:r>
            <a:endParaRPr lang="zh-CN" altLang="en-US" sz="2400"/>
          </a:p>
        </p:txBody>
      </p:sp>
      <p:sp>
        <p:nvSpPr>
          <p:cNvPr id="5" name="文本框 4"/>
          <p:cNvSpPr txBox="1"/>
          <p:nvPr/>
        </p:nvSpPr>
        <p:spPr>
          <a:xfrm>
            <a:off x="860425" y="4210050"/>
            <a:ext cx="10247630" cy="1938020"/>
          </a:xfrm>
          <a:prstGeom prst="rect">
            <a:avLst/>
          </a:prstGeom>
          <a:noFill/>
        </p:spPr>
        <p:txBody>
          <a:bodyPr wrap="square" rtlCol="0" anchor="t">
            <a:spAutoFit/>
          </a:bodyPr>
          <a:p>
            <a:r>
              <a:rPr lang="en-US" altLang="zh-CN" sz="2400">
                <a:latin typeface="等线" panose="02010600030101010101" charset="-122"/>
                <a:ea typeface="等线" panose="02010600030101010101" charset="-122"/>
                <a:cs typeface="等线" panose="02010600030101010101" charset="-122"/>
                <a:sym typeface="+mn-ea"/>
              </a:rPr>
              <a:t>常见单向散列函数(Hash函数)</a:t>
            </a:r>
            <a:r>
              <a:rPr lang="zh-CN" altLang="en-US" sz="2400">
                <a:latin typeface="等线" panose="02010600030101010101" charset="-122"/>
                <a:ea typeface="等线" panose="02010600030101010101" charset="-122"/>
                <a:cs typeface="等线" panose="02010600030101010101" charset="-122"/>
                <a:sym typeface="+mn-ea"/>
              </a:rPr>
              <a:t>：</a:t>
            </a:r>
            <a:endParaRPr lang="en-US" altLang="zh-CN" sz="2400">
              <a:latin typeface="等线" panose="02010600030101010101" charset="-122"/>
              <a:ea typeface="等线" panose="02010600030101010101" charset="-122"/>
              <a:cs typeface="等线" panose="02010600030101010101" charset="-122"/>
            </a:endParaRPr>
          </a:p>
          <a:p>
            <a:r>
              <a:rPr lang="en-US" altLang="zh-CN" sz="2400">
                <a:latin typeface="等线" panose="02010600030101010101" charset="-122"/>
                <a:ea typeface="等线" panose="02010600030101010101" charset="-122"/>
                <a:cs typeface="等线" panose="02010600030101010101" charset="-122"/>
                <a:sym typeface="+mn-ea"/>
              </a:rPr>
              <a:t>MD5（Message Digest Algorithm 5）：可以用来把不同长度的数据块进行暗码运算成一个128位的数值。</a:t>
            </a:r>
            <a:endParaRPr lang="en-US" altLang="zh-CN" sz="2400">
              <a:latin typeface="等线" panose="02010600030101010101" charset="-122"/>
              <a:ea typeface="等线" panose="02010600030101010101" charset="-122"/>
              <a:cs typeface="等线" panose="02010600030101010101" charset="-122"/>
            </a:endParaRPr>
          </a:p>
          <a:p>
            <a:r>
              <a:rPr lang="en-US" altLang="zh-CN" sz="2400">
                <a:latin typeface="等线" panose="02010600030101010101" charset="-122"/>
                <a:ea typeface="等线" panose="02010600030101010101" charset="-122"/>
                <a:cs typeface="等线" panose="02010600030101010101" charset="-122"/>
                <a:sym typeface="+mn-ea"/>
              </a:rPr>
              <a:t>SHA（Secure Hash Algorithm）这是一种较新的散列算法，可以对任意长度的数据运算生成一个160位的数值。</a:t>
            </a:r>
            <a:endParaRPr lang="en-US" altLang="zh-CN" sz="2400">
              <a:latin typeface="等线" panose="02010600030101010101" charset="-122"/>
              <a:ea typeface="等线" panose="02010600030101010101" charset="-122"/>
              <a:cs typeface="等线" panose="02010600030101010101" charset="-122"/>
              <a:sym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消息认证码（</a:t>
            </a:r>
            <a:r>
              <a:rPr lang="en-US" altLang="zh-CN" sz="3600" spc="300" dirty="0">
                <a:sym typeface="+mn-ea"/>
              </a:rPr>
              <a:t>MAC</a:t>
            </a:r>
            <a:r>
              <a:rPr sz="3600" spc="300" dirty="0">
                <a:sym typeface="+mn-ea"/>
              </a:rPr>
              <a:t>）</a:t>
            </a:r>
            <a:endParaRPr sz="3600" spc="300" dirty="0">
              <a:sym typeface="+mn-ea"/>
            </a:endParaRPr>
          </a:p>
        </p:txBody>
      </p:sp>
      <p:sp>
        <p:nvSpPr>
          <p:cNvPr id="2" name="文本框 1"/>
          <p:cNvSpPr txBox="1"/>
          <p:nvPr/>
        </p:nvSpPr>
        <p:spPr>
          <a:xfrm>
            <a:off x="871855" y="1705610"/>
            <a:ext cx="9712325" cy="829945"/>
          </a:xfrm>
          <a:prstGeom prst="rect">
            <a:avLst/>
          </a:prstGeom>
          <a:noFill/>
        </p:spPr>
        <p:txBody>
          <a:bodyPr wrap="square" rtlCol="0">
            <a:spAutoFit/>
          </a:bodyPr>
          <a:p>
            <a:r>
              <a:rPr lang="zh-CN" altLang="en-US" sz="2400">
                <a:latin typeface="等线" panose="02010600030101010101" charset="-122"/>
                <a:ea typeface="等线" panose="02010600030101010101" charset="-122"/>
                <a:cs typeface="等线" panose="02010600030101010101" charset="-122"/>
              </a:rPr>
              <a:t>消息认证码的输入包括任意长度的消息和一个发送者和接收者之间共享的密钥，可以输出固定长度的数据，这个数据成为</a:t>
            </a:r>
            <a:r>
              <a:rPr lang="en-US" altLang="zh-CN" sz="2400">
                <a:latin typeface="等线" panose="02010600030101010101" charset="-122"/>
                <a:ea typeface="等线" panose="02010600030101010101" charset="-122"/>
                <a:cs typeface="等线" panose="02010600030101010101" charset="-122"/>
              </a:rPr>
              <a:t>MAC</a:t>
            </a:r>
            <a:r>
              <a:rPr lang="zh-CN" altLang="en-US" sz="2400">
                <a:latin typeface="等线" panose="02010600030101010101" charset="-122"/>
                <a:ea typeface="等线" panose="02010600030101010101" charset="-122"/>
                <a:cs typeface="等线" panose="02010600030101010101" charset="-122"/>
              </a:rPr>
              <a:t>值。</a:t>
            </a:r>
            <a:endParaRPr lang="zh-CN" altLang="en-US" sz="2400">
              <a:latin typeface="等线" panose="02010600030101010101" charset="-122"/>
              <a:ea typeface="等线" panose="02010600030101010101" charset="-122"/>
              <a:cs typeface="等线" panose="02010600030101010101" charset="-122"/>
            </a:endParaRPr>
          </a:p>
        </p:txBody>
      </p:sp>
      <mc:AlternateContent xmlns:mc="http://schemas.openxmlformats.org/markup-compatibility/2006">
        <mc:Choice xmlns:a14="http://schemas.microsoft.com/office/drawing/2010/main" Requires="a14">
          <p:sp>
            <p:nvSpPr>
              <p:cNvPr id="4" name="文本框 3"/>
              <p:cNvSpPr txBox="1"/>
              <p:nvPr/>
            </p:nvSpPr>
            <p:spPr>
              <a:xfrm>
                <a:off x="4694238" y="3159760"/>
                <a:ext cx="2259330" cy="36830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𝑀𝐴𝐶</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𝐶</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4694238" y="3159760"/>
                <a:ext cx="2259330" cy="368300"/>
              </a:xfrm>
              <a:prstGeom prst="rect">
                <a:avLst/>
              </a:prstGeom>
              <a:blipFill rotWithShape="1">
                <a:blip r:embed="rId1"/>
                <a:stretch>
                  <a:fillRect l="-14" r="14"/>
                </a:stretch>
              </a:blipFill>
            </p:spPr>
            <p:txBody>
              <a:bodyPr/>
              <a:lstStyle/>
              <a:p>
                <a:r>
                  <a:rPr lang="zh-CN" altLang="en-US">
                    <a:noFill/>
                  </a:rPr>
                  <a:t> </a:t>
                </a:r>
              </a:p>
            </p:txBody>
          </p:sp>
        </mc:Fallback>
      </mc:AlternateContent>
      <p:sp>
        <p:nvSpPr>
          <p:cNvPr id="5" name="文本框 4"/>
          <p:cNvSpPr txBox="1"/>
          <p:nvPr/>
        </p:nvSpPr>
        <p:spPr>
          <a:xfrm>
            <a:off x="998855" y="4151630"/>
            <a:ext cx="9712325" cy="829945"/>
          </a:xfrm>
          <a:prstGeom prst="rect">
            <a:avLst/>
          </a:prstGeom>
          <a:noFill/>
        </p:spPr>
        <p:txBody>
          <a:bodyPr wrap="square" rtlCol="0">
            <a:spAutoFit/>
          </a:bodyPr>
          <a:p>
            <a:r>
              <a:rPr lang="zh-CN" altLang="en-US" sz="2400">
                <a:latin typeface="等线" panose="02010600030101010101" charset="-122"/>
                <a:ea typeface="等线" panose="02010600030101010101" charset="-122"/>
                <a:cs typeface="等线" panose="02010600030101010101" charset="-122"/>
              </a:rPr>
              <a:t>通过计算</a:t>
            </a:r>
            <a:r>
              <a:rPr lang="en-US" altLang="zh-CN" sz="2400">
                <a:latin typeface="等线" panose="02010600030101010101" charset="-122"/>
                <a:ea typeface="等线" panose="02010600030101010101" charset="-122"/>
                <a:cs typeface="等线" panose="02010600030101010101" charset="-122"/>
              </a:rPr>
              <a:t>MAC</a:t>
            </a:r>
            <a:r>
              <a:rPr lang="zh-CN" altLang="en-US" sz="2400">
                <a:latin typeface="等线" panose="02010600030101010101" charset="-122"/>
                <a:ea typeface="等线" panose="02010600030101010101" charset="-122"/>
                <a:cs typeface="等线" panose="02010600030101010101" charset="-122"/>
              </a:rPr>
              <a:t>与传值</a:t>
            </a:r>
            <a:r>
              <a:rPr lang="en-US" altLang="zh-CN" sz="2400">
                <a:latin typeface="等线" panose="02010600030101010101" charset="-122"/>
                <a:ea typeface="等线" panose="02010600030101010101" charset="-122"/>
                <a:cs typeface="等线" panose="02010600030101010101" charset="-122"/>
              </a:rPr>
              <a:t>MAC</a:t>
            </a:r>
            <a:r>
              <a:rPr lang="zh-CN" altLang="en-US" sz="2400">
                <a:latin typeface="等线" panose="02010600030101010101" charset="-122"/>
                <a:ea typeface="等线" panose="02010600030101010101" charset="-122"/>
                <a:cs typeface="等线" panose="02010600030101010101" charset="-122"/>
              </a:rPr>
              <a:t>对比，保证了消息不被篡改，保证了发方</a:t>
            </a:r>
            <a:r>
              <a:rPr lang="zh-CN" altLang="en-US" sz="2400">
                <a:latin typeface="等线" panose="02010600030101010101" charset="-122"/>
                <a:ea typeface="等线" panose="02010600030101010101" charset="-122"/>
                <a:cs typeface="等线" panose="02010600030101010101" charset="-122"/>
              </a:rPr>
              <a:t>不是冒充</a:t>
            </a:r>
            <a:r>
              <a:rPr lang="zh-CN" altLang="en-US" sz="2400">
                <a:latin typeface="等线" panose="02010600030101010101" charset="-122"/>
                <a:ea typeface="等线" panose="02010600030101010101" charset="-122"/>
                <a:cs typeface="等线" panose="02010600030101010101" charset="-122"/>
              </a:rPr>
              <a:t>的。</a:t>
            </a:r>
            <a:endParaRPr lang="zh-CN" altLang="en-US" sz="2400">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重放攻击</a:t>
            </a:r>
            <a:r>
              <a:rPr lang="en-US" altLang="zh-CN" sz="3600" spc="300" dirty="0">
                <a:sym typeface="+mn-ea"/>
              </a:rPr>
              <a:t>(R</a:t>
            </a:r>
            <a:r>
              <a:rPr lang="en-US" altLang="zh-CN" sz="3600" spc="300" dirty="0">
                <a:sym typeface="+mn-ea"/>
              </a:rPr>
              <a:t>eplay Attack)</a:t>
            </a:r>
            <a:endParaRPr lang="en-US" altLang="zh-CN" sz="3600" spc="300" dirty="0">
              <a:sym typeface="+mn-ea"/>
            </a:endParaRPr>
          </a:p>
        </p:txBody>
      </p:sp>
      <p:sp>
        <p:nvSpPr>
          <p:cNvPr id="2" name="文本框 1"/>
          <p:cNvSpPr txBox="1"/>
          <p:nvPr/>
        </p:nvSpPr>
        <p:spPr>
          <a:xfrm>
            <a:off x="7306310" y="2129790"/>
            <a:ext cx="3540125" cy="645160"/>
          </a:xfrm>
          <a:prstGeom prst="rect">
            <a:avLst/>
          </a:prstGeom>
          <a:noFill/>
        </p:spPr>
        <p:txBody>
          <a:bodyPr wrap="square" rtlCol="0">
            <a:spAutoFit/>
          </a:bodyPr>
          <a:p>
            <a:pPr algn="l">
              <a:lnSpc>
                <a:spcPct val="100000"/>
              </a:lnSpc>
            </a:pPr>
            <a:r>
              <a:rPr lang="zh-CN" altLang="en-US"/>
              <a:t>重放攻击（</a:t>
            </a:r>
            <a:r>
              <a:rPr lang="en-US" altLang="zh-CN"/>
              <a:t>Replay Attack</a:t>
            </a:r>
            <a:r>
              <a:rPr lang="zh-CN" altLang="en-US"/>
              <a:t>）攻击者保存消息和</a:t>
            </a:r>
            <a:r>
              <a:rPr lang="en-US" altLang="zh-CN"/>
              <a:t>MAC</a:t>
            </a:r>
            <a:r>
              <a:rPr lang="zh-CN" altLang="en-US"/>
              <a:t>，重复</a:t>
            </a:r>
            <a:r>
              <a:rPr lang="zh-CN" altLang="en-US"/>
              <a:t>发送。</a:t>
            </a:r>
            <a:endParaRPr lang="zh-CN" altLang="en-US"/>
          </a:p>
        </p:txBody>
      </p:sp>
      <p:pic>
        <p:nvPicPr>
          <p:cNvPr id="5" name="图片 4"/>
          <p:cNvPicPr>
            <a:picLocks noChangeAspect="1"/>
          </p:cNvPicPr>
          <p:nvPr/>
        </p:nvPicPr>
        <p:blipFill>
          <a:blip r:embed="rId1"/>
          <a:stretch>
            <a:fillRect/>
          </a:stretch>
        </p:blipFill>
        <p:spPr>
          <a:xfrm>
            <a:off x="1010920" y="1827530"/>
            <a:ext cx="5410835" cy="3843020"/>
          </a:xfrm>
          <a:prstGeom prst="rect">
            <a:avLst/>
          </a:prstGeom>
        </p:spPr>
      </p:pic>
      <p:sp>
        <p:nvSpPr>
          <p:cNvPr id="6" name="文本框 5"/>
          <p:cNvSpPr txBox="1"/>
          <p:nvPr/>
        </p:nvSpPr>
        <p:spPr>
          <a:xfrm>
            <a:off x="7345045" y="3199130"/>
            <a:ext cx="3540125" cy="2584450"/>
          </a:xfrm>
          <a:prstGeom prst="rect">
            <a:avLst/>
          </a:prstGeom>
          <a:noFill/>
        </p:spPr>
        <p:txBody>
          <a:bodyPr wrap="square" rtlCol="0">
            <a:spAutoFit/>
          </a:bodyPr>
          <a:p>
            <a:pPr algn="l">
              <a:lnSpc>
                <a:spcPct val="100000"/>
              </a:lnSpc>
            </a:pPr>
            <a:r>
              <a:rPr lang="zh-CN" altLang="en-US"/>
              <a:t>防范</a:t>
            </a:r>
            <a:r>
              <a:rPr lang="zh-CN" altLang="en-US"/>
              <a:t>方法：</a:t>
            </a:r>
            <a:endParaRPr lang="zh-CN" altLang="en-US"/>
          </a:p>
          <a:p>
            <a:pPr algn="l">
              <a:lnSpc>
                <a:spcPct val="100000"/>
              </a:lnSpc>
            </a:pPr>
            <a:endParaRPr lang="zh-CN" altLang="en-US"/>
          </a:p>
          <a:p>
            <a:pPr marL="342900" indent="-342900" algn="l">
              <a:lnSpc>
                <a:spcPct val="100000"/>
              </a:lnSpc>
              <a:buAutoNum type="arabicPeriod"/>
            </a:pPr>
            <a:r>
              <a:rPr lang="zh-CN" altLang="en-US"/>
              <a:t>序号</a:t>
            </a:r>
            <a:endParaRPr lang="zh-CN" altLang="en-US"/>
          </a:p>
          <a:p>
            <a:pPr lvl="1" indent="0" algn="l">
              <a:lnSpc>
                <a:spcPct val="100000"/>
              </a:lnSpc>
              <a:buNone/>
            </a:pPr>
            <a:r>
              <a:rPr lang="zh-CN" altLang="en-US"/>
              <a:t>每次发送一个递增</a:t>
            </a:r>
            <a:r>
              <a:rPr lang="zh-CN" altLang="en-US"/>
              <a:t>编号。</a:t>
            </a:r>
            <a:endParaRPr lang="zh-CN" altLang="en-US"/>
          </a:p>
          <a:p>
            <a:pPr marL="342900" indent="-342900" algn="l">
              <a:lnSpc>
                <a:spcPct val="100000"/>
              </a:lnSpc>
              <a:buAutoNum type="arabicPeriod"/>
            </a:pPr>
            <a:r>
              <a:rPr lang="zh-CN" altLang="en-US"/>
              <a:t>时间戳</a:t>
            </a:r>
            <a:endParaRPr lang="zh-CN" altLang="en-US"/>
          </a:p>
          <a:p>
            <a:pPr lvl="1" indent="0" algn="l">
              <a:lnSpc>
                <a:spcPct val="100000"/>
              </a:lnSpc>
              <a:buNone/>
            </a:pPr>
            <a:r>
              <a:rPr lang="zh-CN" altLang="en-US"/>
              <a:t>消息包含时间戳，可以一定程度上</a:t>
            </a:r>
            <a:r>
              <a:rPr lang="zh-CN" altLang="en-US"/>
              <a:t>防御。</a:t>
            </a:r>
            <a:endParaRPr lang="zh-CN" altLang="en-US"/>
          </a:p>
          <a:p>
            <a:pPr marL="342900" indent="-342900" algn="l">
              <a:lnSpc>
                <a:spcPct val="100000"/>
              </a:lnSpc>
              <a:buAutoNum type="arabicPeriod"/>
            </a:pPr>
            <a:r>
              <a:rPr lang="en-US" altLang="zh-CN"/>
              <a:t>nonce</a:t>
            </a:r>
            <a:endParaRPr lang="en-US" altLang="zh-CN"/>
          </a:p>
          <a:p>
            <a:pPr lvl="1" indent="0" algn="l">
              <a:lnSpc>
                <a:spcPct val="100000"/>
              </a:lnSpc>
              <a:buNone/>
            </a:pPr>
            <a:r>
              <a:rPr lang="zh-CN" altLang="en-US"/>
              <a:t>事先发送一个</a:t>
            </a:r>
            <a:r>
              <a:rPr lang="zh-CN" altLang="en-US"/>
              <a:t>随机数。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8" y="-20958"/>
            <a:ext cx="12192000" cy="687895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nvGrpSpPr>
          <p:cNvPr id="8" name="Group 7"/>
          <p:cNvGrpSpPr/>
          <p:nvPr/>
        </p:nvGrpSpPr>
        <p:grpSpPr>
          <a:xfrm>
            <a:off x="6561054" y="3212533"/>
            <a:ext cx="5630946" cy="1066410"/>
            <a:chOff x="6561054" y="3212533"/>
            <a:chExt cx="5630946" cy="1066410"/>
          </a:xfrm>
        </p:grpSpPr>
        <p:sp>
          <p:nvSpPr>
            <p:cNvPr id="25" name="文本框 10"/>
            <p:cNvSpPr txBox="1"/>
            <p:nvPr/>
          </p:nvSpPr>
          <p:spPr>
            <a:xfrm>
              <a:off x="6692928" y="3212533"/>
              <a:ext cx="5367198" cy="922020"/>
            </a:xfrm>
            <a:prstGeom prst="rect">
              <a:avLst/>
            </a:prstGeom>
            <a:noFill/>
          </p:spPr>
          <p:txBody>
            <a:bodyPr wrap="square" rtlCol="0">
              <a:spAutoFit/>
              <a:scene3d>
                <a:camera prst="orthographicFront"/>
                <a:lightRig rig="threePt" dir="t"/>
              </a:scene3d>
              <a:sp3d contourW="12700"/>
            </a:bodyPr>
            <a:lstStyle/>
            <a:p>
              <a:pPr indent="0">
                <a:lnSpc>
                  <a:spcPct val="150000"/>
                </a:lnSpc>
                <a:buFont typeface="+mj-lt"/>
                <a:buNone/>
              </a:pPr>
              <a:r>
                <a:rPr lang="zh-CN" altLang="en-US" sz="3600" spc="300" dirty="0">
                  <a:solidFill>
                    <a:schemeClr val="tx1">
                      <a:lumMod val="75000"/>
                      <a:lumOff val="25000"/>
                    </a:schemeClr>
                  </a:solidFill>
                  <a:latin typeface="微软雅黑" panose="020B0503020204020204" pitchFamily="34" charset="-122"/>
                  <a:ea typeface="微软雅黑" panose="020B0503020204020204" pitchFamily="34" charset="-122"/>
                  <a:sym typeface="+mn-ea"/>
                </a:rPr>
                <a:t>实际应用场景</a:t>
              </a:r>
              <a:endParaRPr lang="zh-CN" altLang="en-US" sz="3600" b="1" spc="3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6561054" y="4278943"/>
              <a:ext cx="5630946" cy="0"/>
            </a:xfrm>
            <a:prstGeom prst="line">
              <a:avLst/>
            </a:prstGeom>
            <a:ln w="28575">
              <a:solidFill>
                <a:srgbClr val="FF4506"/>
              </a:solidFill>
            </a:ln>
          </p:spPr>
          <p:style>
            <a:lnRef idx="1">
              <a:schemeClr val="accent2"/>
            </a:lnRef>
            <a:fillRef idx="0">
              <a:schemeClr val="accent2"/>
            </a:fillRef>
            <a:effectRef idx="0">
              <a:schemeClr val="accent2"/>
            </a:effectRef>
            <a:fontRef idx="minor">
              <a:schemeClr val="tx1"/>
            </a:fontRef>
          </p:style>
        </p:cxnSp>
      </p:grpSp>
      <p:grpSp>
        <p:nvGrpSpPr>
          <p:cNvPr id="7" name="Group 6"/>
          <p:cNvGrpSpPr/>
          <p:nvPr/>
        </p:nvGrpSpPr>
        <p:grpSpPr>
          <a:xfrm>
            <a:off x="0" y="1848067"/>
            <a:ext cx="6479357" cy="3301450"/>
            <a:chOff x="0" y="1848066"/>
            <a:chExt cx="6980338" cy="3556905"/>
          </a:xfrm>
        </p:grpSpPr>
        <p:sp>
          <p:nvSpPr>
            <p:cNvPr id="14" name="矩形 13"/>
            <p:cNvSpPr/>
            <p:nvPr/>
          </p:nvSpPr>
          <p:spPr>
            <a:xfrm>
              <a:off x="0" y="2498170"/>
              <a:ext cx="5055800" cy="216262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pic>
          <p:nvPicPr>
            <p:cNvPr id="3075" name="Picture 3" descr="C:\Users\laitianyue\Desktop\封面 [已恢复]-14.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51063" y="1848066"/>
              <a:ext cx="3663778" cy="3556905"/>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组合 16"/>
            <p:cNvGrpSpPr/>
            <p:nvPr/>
          </p:nvGrpSpPr>
          <p:grpSpPr>
            <a:xfrm>
              <a:off x="3802453" y="2246862"/>
              <a:ext cx="2919338" cy="3115390"/>
              <a:chOff x="4462366" y="690753"/>
              <a:chExt cx="3701356" cy="3949926"/>
            </a:xfrm>
          </p:grpSpPr>
          <p:pic>
            <p:nvPicPr>
              <p:cNvPr id="18" name="图片 17"/>
              <p:cNvPicPr>
                <a:picLocks noChangeAspect="1"/>
              </p:cNvPicPr>
              <p:nvPr/>
            </p:nvPicPr>
            <p:blipFill>
              <a:blip r:embed="rId2"/>
              <a:stretch>
                <a:fillRect/>
              </a:stretch>
            </p:blipFill>
            <p:spPr>
              <a:xfrm>
                <a:off x="4537316" y="690753"/>
                <a:ext cx="3028276" cy="3949926"/>
              </a:xfrm>
              <a:prstGeom prst="rect">
                <a:avLst/>
              </a:prstGeom>
            </p:spPr>
          </p:pic>
          <p:sp>
            <p:nvSpPr>
              <p:cNvPr id="19" name="文本框 18"/>
              <p:cNvSpPr txBox="1"/>
              <p:nvPr/>
            </p:nvSpPr>
            <p:spPr>
              <a:xfrm>
                <a:off x="4462366" y="2611554"/>
                <a:ext cx="1975700" cy="753269"/>
              </a:xfrm>
              <a:prstGeom prst="rect">
                <a:avLst/>
              </a:prstGeom>
              <a:noFill/>
              <a:scene3d>
                <a:camera prst="perspectiveHeroicExtremeLeftFacing" fov="2700000">
                  <a:rot lat="2400000" lon="2400000" rev="21594000"/>
                </a:camera>
                <a:lightRig rig="threePt" dir="t"/>
              </a:scene3d>
            </p:spPr>
            <p:txBody>
              <a:bodyPr wrap="square" rtlCol="0">
                <a:spAutoFit/>
              </a:bodyPr>
              <a:lstStyle/>
              <a:p>
                <a:r>
                  <a:rPr kumimoji="1" lang="en-US" altLang="zh-CN" sz="3200" b="1" dirty="0">
                    <a:solidFill>
                      <a:schemeClr val="bg1"/>
                    </a:solidFill>
                    <a:latin typeface="微软雅黑" panose="020B0503020204020204" pitchFamily="34" charset="-122"/>
                    <a:ea typeface="微软雅黑" panose="020B0503020204020204" pitchFamily="34" charset="-122"/>
                  </a:rPr>
                  <a:t>PART</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904339" y="2189557"/>
                <a:ext cx="2259383" cy="1133688"/>
              </a:xfrm>
              <a:prstGeom prst="rect">
                <a:avLst/>
              </a:prstGeom>
              <a:noFill/>
              <a:scene3d>
                <a:camera prst="isometricOffAxis1Right">
                  <a:rot lat="1800000" lon="18600000" rev="0"/>
                </a:camera>
                <a:lightRig rig="threePt" dir="t"/>
              </a:scene3d>
            </p:spPr>
            <p:txBody>
              <a:bodyPr wrap="square" rtlCol="0">
                <a:spAutoFit/>
              </a:bodyPr>
              <a:lstStyle/>
              <a:p>
                <a:r>
                  <a:rPr kumimoji="1" lang="zh-CN" altLang="en-US" sz="4800" b="1" dirty="0">
                    <a:solidFill>
                      <a:schemeClr val="bg1"/>
                    </a:solidFill>
                    <a:latin typeface="微软雅黑" panose="020B0503020204020204" pitchFamily="34" charset="-122"/>
                    <a:ea typeface="微软雅黑" panose="020B0503020204020204" pitchFamily="34" charset="-122"/>
                  </a:rPr>
                  <a:t>五</a:t>
                </a:r>
                <a:endParaRPr kumimoji="1" lang="zh-CN" altLang="en-US" sz="4800" b="1" dirty="0">
                  <a:solidFill>
                    <a:schemeClr val="bg1"/>
                  </a:solidFill>
                  <a:latin typeface="微软雅黑" panose="020B0503020204020204" pitchFamily="34" charset="-122"/>
                  <a:ea typeface="微软雅黑" panose="020B0503020204020204" pitchFamily="34" charset="-122"/>
                </a:endParaRPr>
              </a:p>
            </p:txBody>
          </p:sp>
        </p:grpSp>
        <p:sp>
          <p:nvSpPr>
            <p:cNvPr id="3" name="等腰三角形 2"/>
            <p:cNvSpPr/>
            <p:nvPr/>
          </p:nvSpPr>
          <p:spPr>
            <a:xfrm rot="5400000">
              <a:off x="6538505" y="3461729"/>
              <a:ext cx="474562" cy="409105"/>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bg1">
                    <a:lumMod val="9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500" fill="hold"/>
                                        <p:tgtEl>
                                          <p:spTgt spid="8"/>
                                        </p:tgtEl>
                                        <p:attrNameLst>
                                          <p:attrName>ppt_x</p:attrName>
                                        </p:attrNameLst>
                                      </p:cBhvr>
                                      <p:tavLst>
                                        <p:tav tm="0">
                                          <p:val>
                                            <p:strVal val="#ppt_x"/>
                                          </p:val>
                                        </p:tav>
                                        <p:tav tm="100000">
                                          <p:val>
                                            <p:strVal val="#ppt_x"/>
                                          </p:val>
                                        </p:tav>
                                      </p:tavLst>
                                    </p:anim>
                                    <p:anim calcmode="lin" valueType="num">
                                      <p:cBhvr additive="base">
                                        <p:cTn id="12" dur="1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接口</a:t>
            </a:r>
            <a:r>
              <a:rPr sz="3600" spc="300" dirty="0">
                <a:sym typeface="+mn-ea"/>
              </a:rPr>
              <a:t>通信</a:t>
            </a:r>
            <a:endParaRPr sz="3600" spc="300" dirty="0">
              <a:sym typeface="+mn-ea"/>
            </a:endParaRPr>
          </a:p>
        </p:txBody>
      </p:sp>
      <p:pic>
        <p:nvPicPr>
          <p:cNvPr id="2" name="图片 1"/>
          <p:cNvPicPr>
            <a:picLocks noChangeAspect="1"/>
          </p:cNvPicPr>
          <p:nvPr/>
        </p:nvPicPr>
        <p:blipFill>
          <a:blip r:embed="rId1"/>
          <a:stretch>
            <a:fillRect/>
          </a:stretch>
        </p:blipFill>
        <p:spPr>
          <a:xfrm>
            <a:off x="1861820" y="1133475"/>
            <a:ext cx="8467725" cy="4591050"/>
          </a:xfrm>
          <a:prstGeom prst="rect">
            <a:avLst/>
          </a:prstGeom>
        </p:spPr>
      </p:pic>
      <p:sp>
        <p:nvSpPr>
          <p:cNvPr id="4" name="文本框 3"/>
          <p:cNvSpPr txBox="1"/>
          <p:nvPr/>
        </p:nvSpPr>
        <p:spPr>
          <a:xfrm>
            <a:off x="4007485" y="5976620"/>
            <a:ext cx="4176395" cy="368300"/>
          </a:xfrm>
          <a:prstGeom prst="rect">
            <a:avLst/>
          </a:prstGeom>
          <a:noFill/>
        </p:spPr>
        <p:txBody>
          <a:bodyPr wrap="square" rtlCol="0">
            <a:spAutoFit/>
          </a:bodyPr>
          <a:p>
            <a:pPr algn="ctr"/>
            <a:r>
              <a:rPr lang="zh-CN" altLang="en-US">
                <a:latin typeface="等线" panose="02010600030101010101" charset="-122"/>
                <a:ea typeface="等线" panose="02010600030101010101" charset="-122"/>
                <a:cs typeface="等线" panose="02010600030101010101" charset="-122"/>
              </a:rPr>
              <a:t>中台（</a:t>
            </a:r>
            <a:r>
              <a:rPr lang="en-US" altLang="zh-CN">
                <a:latin typeface="等线" panose="02010600030101010101" charset="-122"/>
                <a:ea typeface="等线" panose="02010600030101010101" charset="-122"/>
                <a:cs typeface="等线" panose="02010600030101010101" charset="-122"/>
              </a:rPr>
              <a:t>WMS</a:t>
            </a:r>
            <a:r>
              <a:rPr lang="zh-CN" altLang="en-US">
                <a:latin typeface="等线" panose="02010600030101010101" charset="-122"/>
                <a:ea typeface="等线" panose="02010600030101010101" charset="-122"/>
                <a:cs typeface="等线" panose="02010600030101010101" charset="-122"/>
              </a:rPr>
              <a:t>）接口通信加密</a:t>
            </a:r>
            <a:r>
              <a:rPr lang="zh-CN" altLang="en-US">
                <a:latin typeface="等线" panose="02010600030101010101" charset="-122"/>
                <a:ea typeface="等线" panose="02010600030101010101" charset="-122"/>
                <a:cs typeface="等线" panose="02010600030101010101" charset="-122"/>
              </a:rPr>
              <a:t>方法</a:t>
            </a:r>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lang="en-US" altLang="zh-CN" sz="3600" spc="300" dirty="0">
                <a:sym typeface="+mn-ea"/>
              </a:rPr>
              <a:t>JWT</a:t>
            </a:r>
            <a:endParaRPr lang="en-US" altLang="zh-CN" sz="3600" spc="300" dirty="0">
              <a:sym typeface="+mn-ea"/>
            </a:endParaRPr>
          </a:p>
        </p:txBody>
      </p:sp>
      <p:pic>
        <p:nvPicPr>
          <p:cNvPr id="5" name="图片 4" descr="legacy-app-auth-5"/>
          <p:cNvPicPr>
            <a:picLocks noChangeAspect="1"/>
          </p:cNvPicPr>
          <p:nvPr>
            <p:custDataLst>
              <p:tags r:id="rId1"/>
            </p:custDataLst>
          </p:nvPr>
        </p:nvPicPr>
        <p:blipFill>
          <a:blip r:embed="rId2"/>
          <a:stretch>
            <a:fillRect/>
          </a:stretch>
        </p:blipFill>
        <p:spPr>
          <a:xfrm>
            <a:off x="476250" y="1048385"/>
            <a:ext cx="5119370" cy="5760720"/>
          </a:xfrm>
          <a:prstGeom prst="rect">
            <a:avLst/>
          </a:prstGeom>
        </p:spPr>
      </p:pic>
      <p:sp>
        <p:nvSpPr>
          <p:cNvPr id="6" name="文本框 5"/>
          <p:cNvSpPr txBox="1"/>
          <p:nvPr/>
        </p:nvSpPr>
        <p:spPr>
          <a:xfrm>
            <a:off x="6023610" y="1816100"/>
            <a:ext cx="5143500" cy="3461385"/>
          </a:xfrm>
          <a:prstGeom prst="rect">
            <a:avLst/>
          </a:prstGeom>
          <a:noFill/>
        </p:spPr>
        <p:txBody>
          <a:bodyPr wrap="square" rtlCol="0">
            <a:spAutoFit/>
          </a:bodyPr>
          <a:p>
            <a:pPr>
              <a:lnSpc>
                <a:spcPct val="150000"/>
              </a:lnSpc>
            </a:pPr>
            <a:r>
              <a:rPr lang="en-US" altLang="zh-CN" b="1">
                <a:latin typeface="等线" panose="02010600030101010101" charset="-122"/>
                <a:ea typeface="等线" panose="02010600030101010101" charset="-122"/>
                <a:cs typeface="等线" panose="02010600030101010101" charset="-122"/>
              </a:rPr>
              <a:t>JWT</a:t>
            </a:r>
            <a:r>
              <a:rPr lang="zh-CN" altLang="en-US">
                <a:latin typeface="等线" panose="02010600030101010101" charset="-122"/>
                <a:ea typeface="等线" panose="02010600030101010101" charset="-122"/>
                <a:cs typeface="等线" panose="02010600030101010101" charset="-122"/>
              </a:rPr>
              <a:t>（</a:t>
            </a:r>
            <a:r>
              <a:rPr>
                <a:latin typeface="等线" panose="02010600030101010101" charset="-122"/>
                <a:ea typeface="等线" panose="02010600030101010101" charset="-122"/>
                <a:cs typeface="等线" panose="02010600030101010101" charset="-122"/>
              </a:rPr>
              <a:t>JSON Web Token</a:t>
            </a:r>
            <a:r>
              <a:rPr lang="zh-CN" altLang="en-US">
                <a:latin typeface="等线" panose="02010600030101010101" charset="-122"/>
                <a:ea typeface="等线" panose="02010600030101010101" charset="-122"/>
                <a:cs typeface="等线" panose="02010600030101010101" charset="-122"/>
              </a:rPr>
              <a:t>）</a:t>
            </a:r>
            <a:endParaRPr lang="zh-CN" altLang="en-US" sz="1600">
              <a:latin typeface="等线" panose="02010600030101010101" charset="-122"/>
              <a:ea typeface="等线" panose="02010600030101010101" charset="-122"/>
              <a:cs typeface="等线" panose="02010600030101010101" charset="-122"/>
            </a:endParaRPr>
          </a:p>
          <a:p>
            <a:pPr>
              <a:lnSpc>
                <a:spcPct val="150000"/>
              </a:lnSpc>
            </a:pPr>
            <a:endParaRPr lang="zh-CN" altLang="en-US" sz="1600">
              <a:latin typeface="等线" panose="02010600030101010101" charset="-122"/>
              <a:ea typeface="等线" panose="02010600030101010101" charset="-122"/>
              <a:cs typeface="等线" panose="02010600030101010101" charset="-122"/>
            </a:endParaRPr>
          </a:p>
          <a:p>
            <a:pPr>
              <a:lnSpc>
                <a:spcPct val="150000"/>
              </a:lnSpc>
            </a:pPr>
            <a:r>
              <a:rPr sz="1600">
                <a:latin typeface="等线" panose="02010600030101010101" charset="-122"/>
                <a:ea typeface="等线" panose="02010600030101010101" charset="-122"/>
                <a:cs typeface="等线" panose="02010600030101010101" charset="-122"/>
              </a:rPr>
              <a:t>SIGNATURE</a:t>
            </a:r>
            <a:r>
              <a:rPr lang="en-US" sz="1600">
                <a:latin typeface="等线" panose="02010600030101010101" charset="-122"/>
                <a:ea typeface="等线" panose="02010600030101010101" charset="-122"/>
                <a:cs typeface="等线" panose="02010600030101010101" charset="-122"/>
              </a:rPr>
              <a:t> = </a:t>
            </a:r>
            <a:r>
              <a:rPr sz="1600">
                <a:latin typeface="等线" panose="02010600030101010101" charset="-122"/>
                <a:ea typeface="等线" panose="02010600030101010101" charset="-122"/>
                <a:cs typeface="等线" panose="02010600030101010101" charset="-122"/>
              </a:rPr>
              <a:t>HMACSHA256(</a:t>
            </a:r>
            <a:endParaRPr sz="1600">
              <a:latin typeface="等线" panose="02010600030101010101" charset="-122"/>
              <a:ea typeface="等线" panose="02010600030101010101" charset="-122"/>
              <a:cs typeface="等线" panose="02010600030101010101" charset="-122"/>
            </a:endParaRPr>
          </a:p>
          <a:p>
            <a:pPr>
              <a:lnSpc>
                <a:spcPct val="150000"/>
              </a:lnSpc>
            </a:pPr>
            <a:r>
              <a:rPr sz="1600">
                <a:latin typeface="等线" panose="02010600030101010101" charset="-122"/>
                <a:ea typeface="等线" panose="02010600030101010101" charset="-122"/>
                <a:cs typeface="等线" panose="02010600030101010101" charset="-122"/>
              </a:rPr>
              <a:t>  base64UrlEncode(header) + "." +</a:t>
            </a:r>
            <a:endParaRPr sz="1600">
              <a:latin typeface="等线" panose="02010600030101010101" charset="-122"/>
              <a:ea typeface="等线" panose="02010600030101010101" charset="-122"/>
              <a:cs typeface="等线" panose="02010600030101010101" charset="-122"/>
            </a:endParaRPr>
          </a:p>
          <a:p>
            <a:pPr>
              <a:lnSpc>
                <a:spcPct val="150000"/>
              </a:lnSpc>
            </a:pPr>
            <a:r>
              <a:rPr sz="1600">
                <a:latin typeface="等线" panose="02010600030101010101" charset="-122"/>
                <a:ea typeface="等线" panose="02010600030101010101" charset="-122"/>
                <a:cs typeface="等线" panose="02010600030101010101" charset="-122"/>
              </a:rPr>
              <a:t>  base64UrlEncode(payload),</a:t>
            </a:r>
            <a:endParaRPr sz="1600">
              <a:latin typeface="等线" panose="02010600030101010101" charset="-122"/>
              <a:ea typeface="等线" panose="02010600030101010101" charset="-122"/>
              <a:cs typeface="等线" panose="02010600030101010101" charset="-122"/>
            </a:endParaRPr>
          </a:p>
          <a:p>
            <a:pPr>
              <a:lnSpc>
                <a:spcPct val="150000"/>
              </a:lnSpc>
            </a:pPr>
            <a:r>
              <a:rPr lang="en-US" sz="1600">
                <a:latin typeface="等线" panose="02010600030101010101" charset="-122"/>
                <a:ea typeface="等线" panose="02010600030101010101" charset="-122"/>
                <a:cs typeface="等线" panose="02010600030101010101" charset="-122"/>
              </a:rPr>
              <a:t>  </a:t>
            </a:r>
            <a:r>
              <a:rPr sz="1600">
                <a:latin typeface="等线" panose="02010600030101010101" charset="-122"/>
                <a:ea typeface="等线" panose="02010600030101010101" charset="-122"/>
                <a:cs typeface="等线" panose="02010600030101010101" charset="-122"/>
              </a:rPr>
              <a:t>secret</a:t>
            </a:r>
            <a:endParaRPr sz="1600">
              <a:latin typeface="等线" panose="02010600030101010101" charset="-122"/>
              <a:ea typeface="等线" panose="02010600030101010101" charset="-122"/>
              <a:cs typeface="等线" panose="02010600030101010101" charset="-122"/>
            </a:endParaRPr>
          </a:p>
          <a:p>
            <a:pPr>
              <a:lnSpc>
                <a:spcPct val="150000"/>
              </a:lnSpc>
            </a:pPr>
            <a:r>
              <a:rPr sz="1600">
                <a:latin typeface="等线" panose="02010600030101010101" charset="-122"/>
                <a:ea typeface="等线" panose="02010600030101010101" charset="-122"/>
                <a:cs typeface="等线" panose="02010600030101010101" charset="-122"/>
              </a:rPr>
              <a:t>)</a:t>
            </a:r>
            <a:endParaRPr sz="1600">
              <a:latin typeface="等线" panose="02010600030101010101" charset="-122"/>
              <a:ea typeface="等线" panose="02010600030101010101" charset="-122"/>
              <a:cs typeface="等线" panose="02010600030101010101" charset="-122"/>
            </a:endParaRPr>
          </a:p>
          <a:p>
            <a:pPr>
              <a:lnSpc>
                <a:spcPct val="150000"/>
              </a:lnSpc>
            </a:pPr>
            <a:endParaRPr sz="1600">
              <a:latin typeface="等线" panose="02010600030101010101" charset="-122"/>
              <a:ea typeface="等线" panose="02010600030101010101" charset="-122"/>
              <a:cs typeface="等线" panose="02010600030101010101" charset="-122"/>
            </a:endParaRPr>
          </a:p>
          <a:p>
            <a:pPr>
              <a:lnSpc>
                <a:spcPct val="150000"/>
              </a:lnSpc>
            </a:pPr>
            <a:r>
              <a:rPr sz="1600">
                <a:latin typeface="等线" panose="02010600030101010101" charset="-122"/>
                <a:ea typeface="等线" panose="02010600030101010101" charset="-122"/>
                <a:cs typeface="等线" panose="02010600030101010101" charset="-122"/>
                <a:hlinkClick r:id="rId3" action="ppaction://hlinkfile"/>
              </a:rPr>
              <a:t>jwt.io</a:t>
            </a:r>
            <a:endParaRPr sz="1600">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证书</a:t>
            </a:r>
            <a:r>
              <a:rPr lang="en-US" altLang="zh-CN" sz="3600" spc="300" dirty="0">
                <a:sym typeface="+mn-ea"/>
              </a:rPr>
              <a:t>(PKC)</a:t>
            </a:r>
            <a:endParaRPr lang="en-US" altLang="zh-CN" sz="3600" spc="300" dirty="0">
              <a:sym typeface="+mn-ea"/>
            </a:endParaRPr>
          </a:p>
        </p:txBody>
      </p:sp>
      <p:sp>
        <p:nvSpPr>
          <p:cNvPr id="5" name="文本框 4"/>
          <p:cNvSpPr txBox="1"/>
          <p:nvPr/>
        </p:nvSpPr>
        <p:spPr>
          <a:xfrm>
            <a:off x="876935" y="1783715"/>
            <a:ext cx="9837420" cy="829945"/>
          </a:xfrm>
          <a:prstGeom prst="rect">
            <a:avLst/>
          </a:prstGeom>
          <a:noFill/>
        </p:spPr>
        <p:txBody>
          <a:bodyPr wrap="square" rtlCol="0">
            <a:spAutoFit/>
          </a:bodyPr>
          <a:p>
            <a:r>
              <a:rPr lang="zh-CN" altLang="en-US" sz="2400"/>
              <a:t>公钥证书（</a:t>
            </a:r>
            <a:r>
              <a:rPr lang="en-US" altLang="zh-CN" sz="2400"/>
              <a:t>Public Key Certificate</a:t>
            </a:r>
            <a:r>
              <a:rPr lang="zh-CN" altLang="en-US" sz="2400"/>
              <a:t>），里面记有个体及个体公钥，并且有认证机构（</a:t>
            </a:r>
            <a:r>
              <a:rPr lang="en-US" altLang="zh-CN" sz="2400"/>
              <a:t>CA</a:t>
            </a:r>
            <a:r>
              <a:rPr lang="zh-CN" altLang="en-US" sz="2400"/>
              <a:t>）施加了数字签名，简称</a:t>
            </a:r>
            <a:r>
              <a:rPr lang="zh-CN" altLang="en-US" sz="2400"/>
              <a:t>证书。</a:t>
            </a:r>
            <a:endParaRPr lang="zh-CN" altLang="en-US" sz="2400"/>
          </a:p>
        </p:txBody>
      </p:sp>
      <p:sp>
        <p:nvSpPr>
          <p:cNvPr id="6" name="文本框 5"/>
          <p:cNvSpPr txBox="1"/>
          <p:nvPr/>
        </p:nvSpPr>
        <p:spPr>
          <a:xfrm>
            <a:off x="838835" y="1203325"/>
            <a:ext cx="10067925" cy="460375"/>
          </a:xfrm>
          <a:prstGeom prst="rect">
            <a:avLst/>
          </a:prstGeom>
          <a:noFill/>
        </p:spPr>
        <p:txBody>
          <a:bodyPr wrap="square" rtlCol="0">
            <a:spAutoFit/>
          </a:bodyPr>
          <a:p>
            <a:r>
              <a:rPr lang="en-US" sz="2400"/>
              <a:t>1. </a:t>
            </a:r>
            <a:r>
              <a:rPr lang="zh-CN" altLang="en-US" sz="2400"/>
              <a:t>怎么获得对方的公钥</a:t>
            </a:r>
            <a:r>
              <a:rPr lang="en-US" altLang="zh-CN" sz="2400"/>
              <a:t> </a:t>
            </a:r>
            <a:r>
              <a:rPr lang="zh-CN" altLang="en-US" sz="2400"/>
              <a:t>？</a:t>
            </a:r>
            <a:endParaRPr lang="zh-CN" altLang="en-US" sz="2400"/>
          </a:p>
        </p:txBody>
      </p:sp>
      <p:sp>
        <p:nvSpPr>
          <p:cNvPr id="7" name="文本框 6"/>
          <p:cNvSpPr txBox="1"/>
          <p:nvPr/>
        </p:nvSpPr>
        <p:spPr>
          <a:xfrm>
            <a:off x="953770" y="3582035"/>
            <a:ext cx="9837420" cy="829945"/>
          </a:xfrm>
          <a:prstGeom prst="rect">
            <a:avLst/>
          </a:prstGeom>
          <a:noFill/>
        </p:spPr>
        <p:txBody>
          <a:bodyPr wrap="square" rtlCol="0">
            <a:spAutoFit/>
          </a:bodyPr>
          <a:p>
            <a:r>
              <a:rPr lang="zh-CN" altLang="en-US" sz="2400"/>
              <a:t>对于用来验证数字签名的认证机构的公钥，需要由其他认证机构施加签名的公钥</a:t>
            </a:r>
            <a:r>
              <a:rPr lang="zh-CN" altLang="en-US" sz="2400"/>
              <a:t>证书。</a:t>
            </a:r>
            <a:endParaRPr lang="zh-CN" altLang="en-US" sz="2400"/>
          </a:p>
        </p:txBody>
      </p:sp>
      <p:sp>
        <p:nvSpPr>
          <p:cNvPr id="8" name="文本框 7"/>
          <p:cNvSpPr txBox="1"/>
          <p:nvPr/>
        </p:nvSpPr>
        <p:spPr>
          <a:xfrm>
            <a:off x="915670" y="3001645"/>
            <a:ext cx="10067925" cy="460375"/>
          </a:xfrm>
          <a:prstGeom prst="rect">
            <a:avLst/>
          </a:prstGeom>
          <a:noFill/>
        </p:spPr>
        <p:txBody>
          <a:bodyPr wrap="square" rtlCol="0">
            <a:spAutoFit/>
          </a:bodyPr>
          <a:p>
            <a:r>
              <a:rPr lang="en-US" sz="2400"/>
              <a:t>2. </a:t>
            </a:r>
            <a:r>
              <a:rPr lang="zh-CN" altLang="en-US" sz="2400"/>
              <a:t>怎么获得认证机构的</a:t>
            </a:r>
            <a:r>
              <a:rPr lang="zh-CN" altLang="en-US" sz="2400"/>
              <a:t>公钥？</a:t>
            </a:r>
            <a:endParaRPr lang="zh-CN" altLang="en-US" sz="2400"/>
          </a:p>
        </p:txBody>
      </p:sp>
      <p:sp>
        <p:nvSpPr>
          <p:cNvPr id="10" name="文本框 9"/>
          <p:cNvSpPr txBox="1"/>
          <p:nvPr/>
        </p:nvSpPr>
        <p:spPr>
          <a:xfrm>
            <a:off x="876935" y="4717415"/>
            <a:ext cx="10067925" cy="460375"/>
          </a:xfrm>
          <a:prstGeom prst="rect">
            <a:avLst/>
          </a:prstGeom>
          <a:noFill/>
        </p:spPr>
        <p:txBody>
          <a:bodyPr wrap="square" rtlCol="0">
            <a:spAutoFit/>
          </a:bodyPr>
          <a:p>
            <a:r>
              <a:rPr lang="zh-CN" altLang="en-US" sz="2400" b="1">
                <a:latin typeface="等线" panose="02010600030101010101" charset="-122"/>
                <a:ea typeface="等线" panose="02010600030101010101" charset="-122"/>
                <a:cs typeface="等线" panose="02010600030101010101" charset="-122"/>
              </a:rPr>
              <a:t>证书链，终点</a:t>
            </a:r>
            <a:r>
              <a:rPr lang="en-US" altLang="zh-CN" sz="2400" b="1">
                <a:latin typeface="等线" panose="02010600030101010101" charset="-122"/>
                <a:ea typeface="等线" panose="02010600030101010101" charset="-122"/>
                <a:cs typeface="等线" panose="02010600030101010101" charset="-122"/>
              </a:rPr>
              <a:t> </a:t>
            </a:r>
            <a:r>
              <a:rPr lang="zh-CN" altLang="en-US" sz="2400" b="1">
                <a:latin typeface="等线" panose="02010600030101010101" charset="-122"/>
                <a:ea typeface="等线" panose="02010600030101010101" charset="-122"/>
                <a:cs typeface="等线" panose="02010600030101010101" charset="-122"/>
              </a:rPr>
              <a:t>根</a:t>
            </a:r>
            <a:r>
              <a:rPr lang="en-US" altLang="zh-CN" sz="2400" b="1">
                <a:latin typeface="等线" panose="02010600030101010101" charset="-122"/>
                <a:ea typeface="等线" panose="02010600030101010101" charset="-122"/>
                <a:cs typeface="等线" panose="02010600030101010101" charset="-122"/>
              </a:rPr>
              <a:t>CA(Root CA)</a:t>
            </a:r>
            <a:r>
              <a:rPr lang="zh-CN" altLang="en-US" sz="2400" b="1">
                <a:latin typeface="等线" panose="02010600030101010101" charset="-122"/>
                <a:ea typeface="等线" panose="02010600030101010101" charset="-122"/>
                <a:cs typeface="等线" panose="02010600030101010101" charset="-122"/>
              </a:rPr>
              <a:t>。</a:t>
            </a:r>
            <a:endParaRPr lang="zh-CN" altLang="en-US" sz="2400" b="1">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a:latin typeface="等线" panose="02010600030101010101" charset="-122"/>
                <a:ea typeface="等线" panose="02010600030101010101" charset="-122"/>
                <a:cs typeface="等线" panose="02010600030101010101" charset="-122"/>
                <a:sym typeface="+mn-ea"/>
              </a:rPr>
              <a:t>超文本传输安全协议（HTTP over TLS</a:t>
            </a:r>
            <a:r>
              <a:rPr lang="en-US" altLang="zh-CN" sz="3600">
                <a:latin typeface="等线" panose="02010600030101010101" charset="-122"/>
                <a:ea typeface="等线" panose="02010600030101010101" charset="-122"/>
                <a:cs typeface="等线" panose="02010600030101010101" charset="-122"/>
                <a:sym typeface="+mn-ea"/>
              </a:rPr>
              <a:t>/</a:t>
            </a:r>
            <a:r>
              <a:rPr sz="3600">
                <a:latin typeface="等线" panose="02010600030101010101" charset="-122"/>
                <a:ea typeface="等线" panose="02010600030101010101" charset="-122"/>
                <a:cs typeface="等线" panose="02010600030101010101" charset="-122"/>
                <a:sym typeface="+mn-ea"/>
              </a:rPr>
              <a:t> SSL）</a:t>
            </a:r>
            <a:endParaRPr lang="en-US" altLang="zh-CN" sz="3600" spc="300" dirty="0">
              <a:sym typeface="+mn-ea"/>
            </a:endParaRPr>
          </a:p>
        </p:txBody>
      </p:sp>
      <p:pic>
        <p:nvPicPr>
          <p:cNvPr id="4" name="图片 3" descr="ca4"/>
          <p:cNvPicPr>
            <a:picLocks noChangeAspect="1"/>
          </p:cNvPicPr>
          <p:nvPr/>
        </p:nvPicPr>
        <p:blipFill>
          <a:blip r:embed="rId1"/>
          <a:stretch>
            <a:fillRect/>
          </a:stretch>
        </p:blipFill>
        <p:spPr>
          <a:xfrm>
            <a:off x="1178560" y="1816100"/>
            <a:ext cx="4124960" cy="3070860"/>
          </a:xfrm>
          <a:prstGeom prst="rect">
            <a:avLst/>
          </a:prstGeom>
          <a:ln>
            <a:noFill/>
          </a:ln>
          <a:effectLst>
            <a:outerShdw blurRad="127000" dist="127000" dir="2700000" algn="tl" rotWithShape="0">
              <a:prstClr val="black">
                <a:alpha val="40000"/>
              </a:prstClr>
            </a:outerShdw>
          </a:effectLst>
        </p:spPr>
      </p:pic>
      <p:sp>
        <p:nvSpPr>
          <p:cNvPr id="6" name="文本框 5"/>
          <p:cNvSpPr txBox="1"/>
          <p:nvPr/>
        </p:nvSpPr>
        <p:spPr>
          <a:xfrm>
            <a:off x="6023610" y="1816100"/>
            <a:ext cx="5143500" cy="3091815"/>
          </a:xfrm>
          <a:prstGeom prst="rect">
            <a:avLst/>
          </a:prstGeom>
          <a:noFill/>
        </p:spPr>
        <p:txBody>
          <a:bodyPr wrap="square" rtlCol="0">
            <a:spAutoFit/>
          </a:bodyPr>
          <a:p>
            <a:pPr>
              <a:lnSpc>
                <a:spcPct val="150000"/>
              </a:lnSpc>
            </a:pPr>
            <a:r>
              <a:rPr lang="zh-CN" altLang="en-US" b="1">
                <a:latin typeface="等线" panose="02010600030101010101" charset="-122"/>
                <a:ea typeface="等线" panose="02010600030101010101" charset="-122"/>
                <a:cs typeface="等线" panose="02010600030101010101" charset="-122"/>
              </a:rPr>
              <a:t>超文本传输安全协议</a:t>
            </a:r>
            <a:r>
              <a:rPr lang="zh-CN" altLang="en-US">
                <a:latin typeface="等线" panose="02010600030101010101" charset="-122"/>
                <a:ea typeface="等线" panose="02010600030101010101" charset="-122"/>
                <a:cs typeface="等线" panose="02010600030101010101" charset="-122"/>
              </a:rPr>
              <a:t>（HTTP over TLS</a:t>
            </a:r>
            <a:r>
              <a:rPr lang="en-US" altLang="zh-CN">
                <a:latin typeface="等线" panose="02010600030101010101" charset="-122"/>
                <a:ea typeface="等线" panose="02010600030101010101" charset="-122"/>
                <a:cs typeface="等线" panose="02010600030101010101" charset="-122"/>
              </a:rPr>
              <a:t>/</a:t>
            </a:r>
            <a:r>
              <a:rPr lang="zh-CN" altLang="en-US">
                <a:latin typeface="等线" panose="02010600030101010101" charset="-122"/>
                <a:ea typeface="等线" panose="02010600030101010101" charset="-122"/>
                <a:cs typeface="等线" panose="02010600030101010101" charset="-122"/>
              </a:rPr>
              <a:t> SSL）</a:t>
            </a:r>
            <a:endParaRPr lang="zh-CN" altLang="en-US" sz="1600">
              <a:latin typeface="等线" panose="02010600030101010101" charset="-122"/>
              <a:ea typeface="等线" panose="02010600030101010101" charset="-122"/>
              <a:cs typeface="等线" panose="02010600030101010101" charset="-122"/>
            </a:endParaRPr>
          </a:p>
          <a:p>
            <a:pPr>
              <a:lnSpc>
                <a:spcPct val="150000"/>
              </a:lnSpc>
            </a:pPr>
            <a:endParaRPr lang="zh-CN" altLang="en-US" sz="1600">
              <a:latin typeface="等线" panose="02010600030101010101" charset="-122"/>
              <a:ea typeface="等线" panose="02010600030101010101" charset="-122"/>
              <a:cs typeface="等线" panose="02010600030101010101" charset="-122"/>
            </a:endParaRPr>
          </a:p>
          <a:p>
            <a:pPr>
              <a:lnSpc>
                <a:spcPct val="150000"/>
              </a:lnSpc>
            </a:pPr>
            <a:r>
              <a:rPr lang="zh-CN" altLang="en-US" sz="1600">
                <a:latin typeface="等线" panose="02010600030101010101" charset="-122"/>
                <a:ea typeface="等线" panose="02010600030101010101" charset="-122"/>
                <a:cs typeface="等线" panose="02010600030101010101" charset="-122"/>
              </a:rPr>
              <a:t>一种通过计算机网络进行安全通信的传输协议，经由HTTP进行通信，但利用SSL/TLS来加密数据包，简称</a:t>
            </a:r>
            <a:r>
              <a:rPr lang="en-US" altLang="zh-CN" sz="1600">
                <a:latin typeface="等线" panose="02010600030101010101" charset="-122"/>
                <a:ea typeface="等线" panose="02010600030101010101" charset="-122"/>
                <a:cs typeface="等线" panose="02010600030101010101" charset="-122"/>
              </a:rPr>
              <a:t>HTTPS</a:t>
            </a:r>
            <a:r>
              <a:rPr lang="zh-CN" altLang="en-US" sz="1600">
                <a:latin typeface="等线" panose="02010600030101010101" charset="-122"/>
                <a:ea typeface="等线" panose="02010600030101010101" charset="-122"/>
                <a:cs typeface="等线" panose="02010600030101010101" charset="-122"/>
              </a:rPr>
              <a:t>。</a:t>
            </a:r>
            <a:endParaRPr lang="zh-CN" altLang="en-US" sz="1600">
              <a:latin typeface="等线" panose="02010600030101010101" charset="-122"/>
              <a:ea typeface="等线" panose="02010600030101010101" charset="-122"/>
              <a:cs typeface="等线" panose="02010600030101010101" charset="-122"/>
            </a:endParaRPr>
          </a:p>
          <a:p>
            <a:pPr>
              <a:lnSpc>
                <a:spcPct val="150000"/>
              </a:lnSpc>
            </a:pPr>
            <a:endParaRPr lang="zh-CN" altLang="en-US" sz="1600">
              <a:latin typeface="等线" panose="02010600030101010101" charset="-122"/>
              <a:ea typeface="等线" panose="02010600030101010101" charset="-122"/>
              <a:cs typeface="等线" panose="02010600030101010101" charset="-122"/>
            </a:endParaRPr>
          </a:p>
          <a:p>
            <a:pPr>
              <a:lnSpc>
                <a:spcPct val="150000"/>
              </a:lnSpc>
            </a:pPr>
            <a:r>
              <a:rPr lang="zh-CN" altLang="en-US" sz="1600">
                <a:latin typeface="等线" panose="02010600030101010101" charset="-122"/>
                <a:ea typeface="等线" panose="02010600030101010101" charset="-122"/>
                <a:cs typeface="等线" panose="02010600030101010101" charset="-122"/>
              </a:rPr>
              <a:t>HTTPS开发的主要目的，是提供对网站服务器的身份认证，保护交换资料的隐私与完整性。</a:t>
            </a:r>
            <a:endParaRPr lang="zh-CN" altLang="en-US" sz="1600">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dirty="0">
                <a:sym typeface="+mn-ea"/>
              </a:rPr>
              <a:t>数字证书（</a:t>
            </a:r>
            <a:r>
              <a:rPr lang="en-US" altLang="zh-CN" sz="3600" spc="300" dirty="0">
                <a:sym typeface="+mn-ea"/>
              </a:rPr>
              <a:t>D</a:t>
            </a:r>
            <a:r>
              <a:rPr sz="3600" spc="300" dirty="0">
                <a:sym typeface="+mn-ea"/>
              </a:rPr>
              <a:t>igital </a:t>
            </a:r>
            <a:r>
              <a:rPr lang="en-US" altLang="zh-CN" sz="3600" spc="300" dirty="0">
                <a:sym typeface="+mn-ea"/>
              </a:rPr>
              <a:t>C</a:t>
            </a:r>
            <a:r>
              <a:rPr sz="3600" spc="300" dirty="0">
                <a:sym typeface="+mn-ea"/>
              </a:rPr>
              <a:t>ertificate）</a:t>
            </a:r>
            <a:endParaRPr sz="3600" spc="300" dirty="0">
              <a:sym typeface="+mn-ea"/>
            </a:endParaRPr>
          </a:p>
        </p:txBody>
      </p:sp>
      <p:pic>
        <p:nvPicPr>
          <p:cNvPr id="8" name="图片 7" descr="ca1"/>
          <p:cNvPicPr>
            <a:picLocks noChangeAspect="1"/>
          </p:cNvPicPr>
          <p:nvPr/>
        </p:nvPicPr>
        <p:blipFill>
          <a:blip r:embed="rId1"/>
          <a:stretch>
            <a:fillRect/>
          </a:stretch>
        </p:blipFill>
        <p:spPr>
          <a:xfrm>
            <a:off x="1325245" y="1405255"/>
            <a:ext cx="2919095" cy="4046220"/>
          </a:xfrm>
          <a:prstGeom prst="rect">
            <a:avLst/>
          </a:prstGeom>
        </p:spPr>
      </p:pic>
      <p:pic>
        <p:nvPicPr>
          <p:cNvPr id="9" name="图片 8" descr="ca2"/>
          <p:cNvPicPr>
            <a:picLocks noChangeAspect="1"/>
          </p:cNvPicPr>
          <p:nvPr/>
        </p:nvPicPr>
        <p:blipFill>
          <a:blip r:embed="rId2"/>
          <a:stretch>
            <a:fillRect/>
          </a:stretch>
        </p:blipFill>
        <p:spPr>
          <a:xfrm>
            <a:off x="4636135" y="1405255"/>
            <a:ext cx="2919095" cy="4046855"/>
          </a:xfrm>
          <a:prstGeom prst="rect">
            <a:avLst/>
          </a:prstGeom>
        </p:spPr>
      </p:pic>
      <p:pic>
        <p:nvPicPr>
          <p:cNvPr id="10" name="图片 9" descr="ca3"/>
          <p:cNvPicPr>
            <a:picLocks noChangeAspect="1"/>
          </p:cNvPicPr>
          <p:nvPr/>
        </p:nvPicPr>
        <p:blipFill>
          <a:blip r:embed="rId3"/>
          <a:stretch>
            <a:fillRect/>
          </a:stretch>
        </p:blipFill>
        <p:spPr>
          <a:xfrm>
            <a:off x="7947025" y="1405255"/>
            <a:ext cx="2918460" cy="4046855"/>
          </a:xfrm>
          <a:prstGeom prst="rect">
            <a:avLst/>
          </a:prstGeom>
        </p:spPr>
      </p:pic>
      <p:sp>
        <p:nvSpPr>
          <p:cNvPr id="11" name="文本框 10"/>
          <p:cNvSpPr txBox="1"/>
          <p:nvPr/>
        </p:nvSpPr>
        <p:spPr>
          <a:xfrm>
            <a:off x="4636135" y="5846445"/>
            <a:ext cx="2919095" cy="368300"/>
          </a:xfrm>
          <a:prstGeom prst="rect">
            <a:avLst/>
          </a:prstGeom>
          <a:noFill/>
        </p:spPr>
        <p:txBody>
          <a:bodyPr wrap="square" rtlCol="0">
            <a:spAutoFit/>
          </a:bodyPr>
          <a:p>
            <a:pPr algn="ctr"/>
            <a:r>
              <a:rPr lang="zh-CN" altLang="en-US"/>
              <a:t>证书明细和</a:t>
            </a:r>
            <a:r>
              <a:rPr lang="zh-CN" altLang="en-US"/>
              <a:t>证书链</a:t>
            </a:r>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spc="300">
                <a:sym typeface="+mn-ea"/>
              </a:rPr>
              <a:t>比特币（</a:t>
            </a:r>
            <a:r>
              <a:rPr lang="en-US" altLang="zh-CN" sz="3600" spc="300">
                <a:sym typeface="+mn-ea"/>
              </a:rPr>
              <a:t>BitCoin</a:t>
            </a:r>
            <a:r>
              <a:rPr sz="3600" spc="300">
                <a:sym typeface="+mn-ea"/>
              </a:rPr>
              <a:t>）</a:t>
            </a:r>
            <a:endParaRPr sz="3600" spc="300">
              <a:sym typeface="+mn-ea"/>
            </a:endParaRPr>
          </a:p>
        </p:txBody>
      </p:sp>
      <p:pic>
        <p:nvPicPr>
          <p:cNvPr id="4" name="图片 3"/>
          <p:cNvPicPr>
            <a:picLocks noChangeAspect="1"/>
          </p:cNvPicPr>
          <p:nvPr/>
        </p:nvPicPr>
        <p:blipFill>
          <a:blip r:embed="rId1"/>
          <a:stretch>
            <a:fillRect/>
          </a:stretch>
        </p:blipFill>
        <p:spPr>
          <a:xfrm>
            <a:off x="982345" y="1889760"/>
            <a:ext cx="6065520" cy="3813810"/>
          </a:xfrm>
          <a:prstGeom prst="rect">
            <a:avLst/>
          </a:prstGeom>
        </p:spPr>
      </p:pic>
      <p:sp>
        <p:nvSpPr>
          <p:cNvPr id="5" name="文本框 4"/>
          <p:cNvSpPr txBox="1"/>
          <p:nvPr/>
        </p:nvSpPr>
        <p:spPr>
          <a:xfrm>
            <a:off x="6845300" y="2266315"/>
            <a:ext cx="4077970" cy="2830195"/>
          </a:xfrm>
          <a:prstGeom prst="rect">
            <a:avLst/>
          </a:prstGeom>
          <a:noFill/>
        </p:spPr>
        <p:txBody>
          <a:bodyPr wrap="square" rtlCol="0">
            <a:spAutoFit/>
          </a:bodyPr>
          <a:p>
            <a:r>
              <a:rPr lang="zh-CN" altLang="en-US" b="1"/>
              <a:t>比特币</a:t>
            </a:r>
            <a:r>
              <a:rPr lang="zh-CN" altLang="en-US"/>
              <a:t>（Bitcoin）</a:t>
            </a:r>
            <a:endParaRPr lang="zh-CN" altLang="en-US"/>
          </a:p>
          <a:p>
            <a:endParaRPr lang="zh-CN" altLang="en-US" sz="1600"/>
          </a:p>
          <a:p>
            <a:pPr>
              <a:lnSpc>
                <a:spcPct val="150000"/>
              </a:lnSpc>
            </a:pPr>
            <a:r>
              <a:rPr lang="zh-CN" altLang="en-US" sz="1600"/>
              <a:t>最初由中本聪在2008年提出，并于2009年1月3日正式诞生 </a:t>
            </a:r>
            <a:r>
              <a:rPr lang="en-US" altLang="zh-CN" sz="1600"/>
              <a:t>,</a:t>
            </a:r>
            <a:r>
              <a:rPr lang="zh-CN" altLang="en-US" sz="1600"/>
              <a:t>是一种P2P形式的虚拟的加密数字货币。点对点的去中心化的支付系统。</a:t>
            </a:r>
            <a:endParaRPr lang="zh-CN" altLang="en-US" sz="1600"/>
          </a:p>
          <a:p>
            <a:pPr>
              <a:lnSpc>
                <a:spcPct val="150000"/>
              </a:lnSpc>
            </a:pPr>
            <a:endParaRPr lang="zh-CN" altLang="en-US" sz="1600"/>
          </a:p>
          <a:p>
            <a:pPr>
              <a:lnSpc>
                <a:spcPct val="150000"/>
              </a:lnSpc>
            </a:pPr>
            <a:r>
              <a:rPr lang="zh-CN" altLang="en-US" sz="1600"/>
              <a:t>2015年,美国开设了世界上第一家比特币交易所</a:t>
            </a:r>
            <a:r>
              <a:rPr lang="en-US" altLang="zh-CN" sz="1600"/>
              <a:t>Coinbase</a:t>
            </a:r>
            <a:r>
              <a:rPr lang="zh-CN" altLang="zh-CN" sz="1600"/>
              <a:t>。</a:t>
            </a:r>
            <a:endParaRPr lang="zh-CN" altLang="zh-CN" sz="16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a:sym typeface="+mn-ea"/>
              </a:rPr>
              <a:t>交易（Transactions）</a:t>
            </a:r>
            <a:endParaRPr sz="3600" spc="300">
              <a:sym typeface="+mn-ea"/>
            </a:endParaRPr>
          </a:p>
        </p:txBody>
      </p:sp>
      <p:sp>
        <p:nvSpPr>
          <p:cNvPr id="5" name="文本框 4"/>
          <p:cNvSpPr txBox="1"/>
          <p:nvPr/>
        </p:nvSpPr>
        <p:spPr>
          <a:xfrm>
            <a:off x="6845300" y="2223135"/>
            <a:ext cx="4077970" cy="3199765"/>
          </a:xfrm>
          <a:prstGeom prst="rect">
            <a:avLst/>
          </a:prstGeom>
          <a:noFill/>
        </p:spPr>
        <p:txBody>
          <a:bodyPr wrap="square" rtlCol="0">
            <a:spAutoFit/>
          </a:bodyPr>
          <a:p>
            <a:r>
              <a:rPr lang="zh-CN" altLang="en-US" b="1"/>
              <a:t>交易</a:t>
            </a:r>
            <a:r>
              <a:rPr lang="zh-CN" altLang="en-US"/>
              <a:t>（Transactions）</a:t>
            </a:r>
            <a:endParaRPr lang="zh-CN" altLang="en-US"/>
          </a:p>
          <a:p>
            <a:endParaRPr lang="zh-CN" altLang="en-US" sz="1600"/>
          </a:p>
          <a:p>
            <a:pPr>
              <a:lnSpc>
                <a:spcPct val="150000"/>
              </a:lnSpc>
            </a:pPr>
            <a:r>
              <a:rPr sz="1600"/>
              <a:t>一枚电子货币就是一条数字签名链。每个拥有者都通过将上一次交易和下一个拥</a:t>
            </a:r>
            <a:endParaRPr sz="1600"/>
          </a:p>
          <a:p>
            <a:pPr>
              <a:lnSpc>
                <a:spcPct val="150000"/>
              </a:lnSpc>
            </a:pPr>
            <a:r>
              <a:rPr sz="1600"/>
              <a:t>有者的公钥的哈希值的数字签名添加到此货币末尾的方式将这枚货币转移给下一个拥有者。</a:t>
            </a:r>
            <a:endParaRPr sz="1600"/>
          </a:p>
          <a:p>
            <a:pPr>
              <a:lnSpc>
                <a:spcPct val="150000"/>
              </a:lnSpc>
            </a:pPr>
            <a:r>
              <a:rPr sz="1600"/>
              <a:t>收款人可以通过验证数字签名来证实其为该链的所有者。</a:t>
            </a:r>
            <a:endParaRPr sz="1600"/>
          </a:p>
        </p:txBody>
      </p:sp>
      <p:pic>
        <p:nvPicPr>
          <p:cNvPr id="2" name="图片 1"/>
          <p:cNvPicPr>
            <a:picLocks noChangeAspect="1"/>
          </p:cNvPicPr>
          <p:nvPr/>
        </p:nvPicPr>
        <p:blipFill>
          <a:blip r:embed="rId1"/>
          <a:stretch>
            <a:fillRect/>
          </a:stretch>
        </p:blipFill>
        <p:spPr>
          <a:xfrm>
            <a:off x="683260" y="1939290"/>
            <a:ext cx="5882005" cy="348361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0" y="253365"/>
            <a:ext cx="8867775" cy="757555"/>
          </a:xfrm>
        </p:spPr>
        <p:txBody>
          <a:bodyPr>
            <a:normAutofit/>
          </a:bodyPr>
          <a:lstStyle/>
          <a:p>
            <a:r>
              <a:rPr sz="3600">
                <a:sym typeface="+mn-ea"/>
              </a:rPr>
              <a:t>工作量证明（Proof-of-Work）</a:t>
            </a:r>
            <a:endParaRPr sz="3600" spc="300">
              <a:sym typeface="+mn-ea"/>
            </a:endParaRPr>
          </a:p>
        </p:txBody>
      </p:sp>
      <p:sp>
        <p:nvSpPr>
          <p:cNvPr id="5" name="文本框 4"/>
          <p:cNvSpPr txBox="1"/>
          <p:nvPr/>
        </p:nvSpPr>
        <p:spPr>
          <a:xfrm>
            <a:off x="6845300" y="2266315"/>
            <a:ext cx="4077970" cy="2461260"/>
          </a:xfrm>
          <a:prstGeom prst="rect">
            <a:avLst/>
          </a:prstGeom>
          <a:noFill/>
        </p:spPr>
        <p:txBody>
          <a:bodyPr wrap="square" rtlCol="0">
            <a:spAutoFit/>
          </a:bodyPr>
          <a:p>
            <a:r>
              <a:rPr lang="zh-CN" altLang="en-US" b="1"/>
              <a:t>工作量证明</a:t>
            </a:r>
            <a:r>
              <a:rPr lang="zh-CN" altLang="en-US"/>
              <a:t>（Proof-of-Work）</a:t>
            </a:r>
            <a:endParaRPr lang="zh-CN" altLang="en-US"/>
          </a:p>
          <a:p>
            <a:endParaRPr lang="zh-CN" altLang="en-US" sz="1600"/>
          </a:p>
          <a:p>
            <a:pPr>
              <a:lnSpc>
                <a:spcPct val="150000"/>
              </a:lnSpc>
            </a:pPr>
            <a:r>
              <a:rPr sz="1600"/>
              <a:t>工作量证明采取搜索一个数</a:t>
            </a:r>
            <a:r>
              <a:rPr lang="zh-CN" sz="1600"/>
              <a:t>（</a:t>
            </a:r>
            <a:r>
              <a:rPr lang="en-US" altLang="zh-CN" sz="1600"/>
              <a:t>Nonce</a:t>
            </a:r>
            <a:r>
              <a:rPr lang="zh-CN" sz="1600"/>
              <a:t>）</a:t>
            </a:r>
            <a:r>
              <a:rPr sz="1600"/>
              <a:t>，使得被哈希时，如使用 SHA-256，得到的哈希值以数个 0 比特开始。</a:t>
            </a:r>
            <a:endParaRPr sz="1600"/>
          </a:p>
          <a:p>
            <a:pPr>
              <a:lnSpc>
                <a:spcPct val="150000"/>
              </a:lnSpc>
            </a:pPr>
            <a:endParaRPr sz="1600"/>
          </a:p>
          <a:p>
            <a:pPr>
              <a:lnSpc>
                <a:spcPct val="150000"/>
              </a:lnSpc>
            </a:pPr>
            <a:r>
              <a:rPr sz="1600"/>
              <a:t>改变这个区块将需要重做所有后面的区块。</a:t>
            </a:r>
            <a:endParaRPr sz="1600"/>
          </a:p>
        </p:txBody>
      </p:sp>
      <p:pic>
        <p:nvPicPr>
          <p:cNvPr id="2" name="图片 1"/>
          <p:cNvPicPr>
            <a:picLocks noChangeAspect="1"/>
          </p:cNvPicPr>
          <p:nvPr/>
        </p:nvPicPr>
        <p:blipFill>
          <a:blip r:embed="rId1"/>
          <a:stretch>
            <a:fillRect/>
          </a:stretch>
        </p:blipFill>
        <p:spPr>
          <a:xfrm>
            <a:off x="617855" y="2456815"/>
            <a:ext cx="5727700" cy="1435735"/>
          </a:xfrm>
          <a:prstGeom prst="rect">
            <a:avLst/>
          </a:prstGeom>
        </p:spPr>
      </p:pic>
      <p:sp>
        <p:nvSpPr>
          <p:cNvPr id="6" name="文本框 5"/>
          <p:cNvSpPr txBox="1"/>
          <p:nvPr/>
        </p:nvSpPr>
        <p:spPr>
          <a:xfrm>
            <a:off x="617855" y="4549140"/>
            <a:ext cx="5727065" cy="368300"/>
          </a:xfrm>
          <a:prstGeom prst="rect">
            <a:avLst/>
          </a:prstGeom>
          <a:noFill/>
        </p:spPr>
        <p:txBody>
          <a:bodyPr wrap="square" rtlCol="0">
            <a:spAutoFit/>
          </a:bodyPr>
          <a:p>
            <a:pPr algn="ctr"/>
            <a:r>
              <a:rPr lang="zh-CN" altLang="en-US" b="1">
                <a:latin typeface="等线" panose="02010600030101010101" charset="-122"/>
                <a:ea typeface="等线" panose="02010600030101010101" charset="-122"/>
                <a:cs typeface="等线" panose="02010600030101010101" charset="-122"/>
              </a:rPr>
              <a:t>区块链</a:t>
            </a:r>
            <a:r>
              <a:rPr lang="zh-CN" altLang="en-US">
                <a:latin typeface="等线" panose="02010600030101010101" charset="-122"/>
                <a:ea typeface="等线" panose="02010600030101010101" charset="-122"/>
                <a:cs typeface="等线" panose="02010600030101010101" charset="-122"/>
              </a:rPr>
              <a:t>（</a:t>
            </a:r>
            <a:r>
              <a:rPr lang="en-US" altLang="zh-CN">
                <a:latin typeface="等线" panose="02010600030101010101" charset="-122"/>
                <a:ea typeface="等线" panose="02010600030101010101" charset="-122"/>
                <a:cs typeface="等线" panose="02010600030101010101" charset="-122"/>
              </a:rPr>
              <a:t>Block Chain</a:t>
            </a:r>
            <a:r>
              <a:rPr lang="zh-CN" altLang="en-US">
                <a:latin typeface="等线" panose="02010600030101010101" charset="-122"/>
                <a:ea typeface="等线" panose="02010600030101010101" charset="-122"/>
                <a:cs typeface="等线" panose="02010600030101010101" charset="-122"/>
              </a:rPr>
              <a:t>）</a:t>
            </a:r>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92" y="0"/>
            <a:ext cx="12190815" cy="6858000"/>
          </a:xfrm>
          <a:prstGeom prst="rect">
            <a:avLst/>
          </a:prstGeom>
        </p:spPr>
      </p:pic>
      <p:sp>
        <p:nvSpPr>
          <p:cNvPr id="9" name="TextBox 8"/>
          <p:cNvSpPr txBox="1"/>
          <p:nvPr/>
        </p:nvSpPr>
        <p:spPr>
          <a:xfrm>
            <a:off x="3966837" y="2185659"/>
            <a:ext cx="3472650" cy="829945"/>
          </a:xfrm>
          <a:prstGeom prst="rect">
            <a:avLst/>
          </a:prstGeom>
          <a:noFill/>
        </p:spPr>
        <p:txBody>
          <a:bodyPr wrap="square" rtlCol="0">
            <a:spAutoFit/>
          </a:bodyPr>
          <a:lstStyle/>
          <a:p>
            <a:pPr algn="ctr"/>
            <a:r>
              <a:rPr lang="zh-CN" altLang="en-US" sz="4800" b="1"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华文琥珀" panose="02010800040101010101" pitchFamily="2" charset="-122"/>
                <a:ea typeface="华文琥珀" panose="02010800040101010101" pitchFamily="2" charset="-122"/>
              </a:rPr>
              <a:t>谢谢观看</a:t>
            </a:r>
            <a:endParaRPr lang="zh-CN" altLang="en-US" sz="4800" b="1"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华文琥珀" panose="02010800040101010101" pitchFamily="2" charset="-122"/>
              <a:ea typeface="华文琥珀"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5_3"/>
  <p:tag name="KSO_WM_UNIT_ID" val="diagram20171211_5*o_h_i*1_5_3"/>
  <p:tag name="KSO_WM_TEMPLATE_CATEGORY" val="diagram"/>
  <p:tag name="KSO_WM_TEMPLATE_INDEX" val="20171211"/>
  <p:tag name="KSO_WM_UNIT_LAYERLEVEL" val="1_1_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4_3"/>
  <p:tag name="KSO_WM_UNIT_ID" val="diagram20171211_5*o_h_i*1_4_3"/>
  <p:tag name="KSO_WM_TEMPLATE_CATEGORY" val="diagram"/>
  <p:tag name="KSO_WM_TEMPLATE_INDEX" val="20171211"/>
  <p:tag name="KSO_WM_UNIT_LAYERLEVEL" val="1_1_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3_3"/>
  <p:tag name="KSO_WM_UNIT_ID" val="diagram20171211_5*o_h_i*1_3_3"/>
  <p:tag name="KSO_WM_TEMPLATE_CATEGORY" val="diagram"/>
  <p:tag name="KSO_WM_TEMPLATE_INDEX" val="20171211"/>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2_3"/>
  <p:tag name="KSO_WM_UNIT_ID" val="diagram20171211_5*o_h_i*1_2_3"/>
  <p:tag name="KSO_WM_TEMPLATE_CATEGORY" val="diagram"/>
  <p:tag name="KSO_WM_TEMPLATE_INDEX" val="20171211"/>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1_3"/>
  <p:tag name="KSO_WM_UNIT_ID" val="diagram20171211_5*o_h_i*1_1_3"/>
  <p:tag name="KSO_WM_TEMPLATE_CATEGORY" val="diagram"/>
  <p:tag name="KSO_WM_TEMPLATE_INDEX" val="20171211"/>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6.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5_1"/>
  <p:tag name="KSO_WM_UNIT_ID" val="diagram20171211_5*o_h_i*1_5_1"/>
  <p:tag name="KSO_WM_TEMPLATE_CATEGORY" val="diagram"/>
  <p:tag name="KSO_WM_TEMPLATE_INDEX" val="20171211"/>
  <p:tag name="KSO_WM_UNIT_LAYERLEVEL" val="1_1_1"/>
  <p:tag name="KSO_WM_TAG_VERSION" val="1.0"/>
  <p:tag name="KSO_WM_BEAUTIFY_FLAG" val="#wm#"/>
  <p:tag name="KSO_WM_UNIT_TEXT_FILL_FORE_SCHEMECOLOR_INDEX" val="14"/>
  <p:tag name="KSO_WM_UNIT_TEXT_FILL_TYPE" val="1"/>
</p:tagLst>
</file>

<file path=ppt/tags/tag7.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4_2"/>
  <p:tag name="KSO_WM_UNIT_ID" val="diagram20171211_5*o_h_i*1_4_2"/>
  <p:tag name="KSO_WM_TEMPLATE_CATEGORY" val="diagram"/>
  <p:tag name="KSO_WM_TEMPLATE_INDEX" val="20171211"/>
  <p:tag name="KSO_WM_UNIT_LAYERLEVEL" val="1_1_1"/>
  <p:tag name="KSO_WM_TAG_VERSION" val="1.0"/>
  <p:tag name="KSO_WM_BEAUTIFY_FLAG" val="#wm#"/>
  <p:tag name="KSO_WM_UNIT_TEXT_FILL_FORE_SCHEMECOLOR_INDEX" val="14"/>
  <p:tag name="KSO_WM_UNIT_TEXT_FILL_TYPE" val="1"/>
</p:tagLst>
</file>

<file path=ppt/tags/tag8.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3_1"/>
  <p:tag name="KSO_WM_UNIT_ID" val="diagram20171211_5*o_h_i*1_3_1"/>
  <p:tag name="KSO_WM_TEMPLATE_CATEGORY" val="diagram"/>
  <p:tag name="KSO_WM_TEMPLATE_INDEX" val="20171211"/>
  <p:tag name="KSO_WM_UNIT_LAYERLEVEL" val="1_1_1"/>
  <p:tag name="KSO_WM_TAG_VERSION" val="1.0"/>
  <p:tag name="KSO_WM_BEAUTIFY_FLAG" val="#wm#"/>
  <p:tag name="KSO_WM_UNIT_TEXT_FILL_FORE_SCHEMECOLOR_INDEX" val="14"/>
  <p:tag name="KSO_WM_UNIT_TEXT_FILL_TYPE" val="1"/>
</p:tagLst>
</file>

<file path=ppt/tags/tag9.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2_2"/>
  <p:tag name="KSO_WM_UNIT_ID" val="diagram20171211_5*o_h_i*1_2_2"/>
  <p:tag name="KSO_WM_TEMPLATE_CATEGORY" val="diagram"/>
  <p:tag name="KSO_WM_TEMPLATE_INDEX" val="20171211"/>
  <p:tag name="KSO_WM_UNIT_LAYERLEVEL" val="1_1_1"/>
  <p:tag name="KSO_WM_TAG_VERSION" val="1.0"/>
  <p:tag name="KSO_WM_BEAUTIFY_FLAG" val="#wm#"/>
  <p:tag name="KSO_WM_UNIT_TEXT_FILL_FORE_SCHEMECOLOR_INDEX" val="14"/>
  <p:tag name="KSO_WM_UNIT_TEXT_FILL_TYPE" val="1"/>
</p:tagLst>
</file>

<file path=ppt/tags/tag10.xml><?xml version="1.0" encoding="utf-8"?>
<p:tagLst xmlns:p="http://schemas.openxmlformats.org/presentationml/2006/main">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1_1"/>
  <p:tag name="KSO_WM_UNIT_ID" val="diagram20171211_5*o_h_i*1_1_1"/>
  <p:tag name="KSO_WM_TEMPLATE_CATEGORY" val="diagram"/>
  <p:tag name="KSO_WM_TEMPLATE_INDEX" val="20171211"/>
  <p:tag name="KSO_WM_UNIT_LAYERLEVEL" val="1_1_1"/>
  <p:tag name="KSO_WM_TAG_VERSION" val="1.0"/>
  <p:tag name="KSO_WM_BEAUTIFY_FLAG" val="#wm#"/>
  <p:tag name="KSO_WM_UNIT_TEXT_FILL_FORE_SCHEMECOLOR_INDEX" val="14"/>
  <p:tag name="KSO_WM_UNIT_TEXT_FILL_TYPE" val="1"/>
</p:tagLst>
</file>

<file path=ppt/tags/tag11.xml><?xml version="1.0" encoding="utf-8"?>
<p:tagLst xmlns:p="http://schemas.openxmlformats.org/presentationml/2006/main">
  <p:tag name="KSO_WM_UNIT_PLACING_PICTURE_USER_VIEWPORT" val="{&quot;height&quot;:10800,&quot;width&quot;:9598}"/>
</p:tagLst>
</file>

<file path=ppt/tags/tag12.xml><?xml version="1.0" encoding="utf-8"?>
<p:tagLst xmlns:p="http://schemas.openxmlformats.org/presentationml/2006/main">
  <p:tag name="ISLIDE.GUIDESSETTING" val="{&quot;Id&quot;:null,&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alpha val="67843"/>
          </a:schemeClr>
        </a:solidFill>
        <a:ln>
          <a:noFill/>
        </a:ln>
      </a:spPr>
      <a:bodyPr rtlCol="0" anchor="ctr"/>
      <a:lstStyle>
        <a:defPPr algn="ctr">
          <a:defRPr kumimoji="1" dirty="0">
            <a:solidFill>
              <a:schemeClr val="bg1">
                <a:lumMod val="9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3453</Words>
  <Application>WPS 演示</Application>
  <PresentationFormat>宽屏</PresentationFormat>
  <Paragraphs>260</Paragraphs>
  <Slides>32</Slides>
  <Notes>22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Arial</vt:lpstr>
      <vt:lpstr>宋体</vt:lpstr>
      <vt:lpstr>Wingdings</vt:lpstr>
      <vt:lpstr>微软雅黑</vt:lpstr>
      <vt:lpstr>等线</vt:lpstr>
      <vt:lpstr>Cambria Math</vt:lpstr>
      <vt:lpstr>Arial Unicode MS</vt:lpstr>
      <vt:lpstr>华文琥珀</vt:lpstr>
      <vt:lpstr>Office 主题​​</vt:lpstr>
      <vt:lpstr>PowerPoint 演示文稿</vt:lpstr>
      <vt:lpstr>PowerPoint 演示文稿</vt:lpstr>
      <vt:lpstr>PowerPoint 演示文稿</vt:lpstr>
      <vt:lpstr>为什么要讲密码学</vt:lpstr>
      <vt:lpstr>信息安全面临哪些威胁</vt:lpstr>
      <vt:lpstr>什么是现代密码学</vt:lpstr>
      <vt:lpstr>如何解决所面临的威胁</vt:lpstr>
      <vt:lpstr>PowerPoint 演示文稿</vt:lpstr>
      <vt:lpstr>DES（Data Encryption Standard）</vt:lpstr>
      <vt:lpstr>DES C#代码实现</vt:lpstr>
      <vt:lpstr>AES（Advanced Encryption Standard）</vt:lpstr>
      <vt:lpstr>AES C#代码实现</vt:lpstr>
      <vt:lpstr>PowerPoint 演示文稿</vt:lpstr>
      <vt:lpstr>非对称密码</vt:lpstr>
      <vt:lpstr>RSA</vt:lpstr>
      <vt:lpstr>RSA C#代码实现</vt:lpstr>
      <vt:lpstr>非对称密码解决什么问题</vt:lpstr>
      <vt:lpstr>中间人攻击(MITM)</vt:lpstr>
      <vt:lpstr>PowerPoint 演示文稿</vt:lpstr>
      <vt:lpstr>单向散列函数（Hash Function）</vt:lpstr>
      <vt:lpstr>消息认证码（MAC）</vt:lpstr>
      <vt:lpstr>重放攻击(Replay Attack)</vt:lpstr>
      <vt:lpstr>PowerPoint 演示文稿</vt:lpstr>
      <vt:lpstr>接口通信</vt:lpstr>
      <vt:lpstr>JWT</vt:lpstr>
      <vt:lpstr>证书(PKC)</vt:lpstr>
      <vt:lpstr>超文本传输安全协议（HTTP over TLS/ SSL）</vt:lpstr>
      <vt:lpstr>数字证书（Digital Certificate）</vt:lpstr>
      <vt:lpstr>比特币（BitCoin）</vt:lpstr>
      <vt:lpstr>交易（Transactions）</vt:lpstr>
      <vt:lpstr>工作量证明（Proof-of-Work）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Zong</dc:creator>
  <cp:lastModifiedBy>w4n9hu1</cp:lastModifiedBy>
  <cp:revision>324</cp:revision>
  <dcterms:created xsi:type="dcterms:W3CDTF">2021-04-09T02:15:00Z</dcterms:created>
  <dcterms:modified xsi:type="dcterms:W3CDTF">2021-08-27T02:04:04Z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94EDD6B4D8124E41AC2732C9204F3DC9</vt:lpwstr>
  </property>
  <property fmtid="{D5CDD505-2E9C-101B-9397-08002B2CF9AE}" pid="3" name="KSOProductBuildVer">
    <vt:lpwstr>2052-11.1.0.10700</vt:lpwstr>
  </property>
</Properties>
</file>